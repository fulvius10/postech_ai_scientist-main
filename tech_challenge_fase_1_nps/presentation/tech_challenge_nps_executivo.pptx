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c0c4945cb4740" /><Relationship Type="http://schemas.openxmlformats.org/officeDocument/2006/relationships/extended-properties" Target="/docProps/app.xml" Id="R278c885e75fd4c12" /><Relationship Type="http://schemas.openxmlformats.org/officeDocument/2006/relationships/officeDocument" Target="/ppt/presentation.xml" Id="R1d20b8b3719545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7bcb7319a4641"/>
  </p:sldMasterIdLst>
  <p:notesMasterIdLst>
    <p:notesMasterId xmlns:r="http://schemas.openxmlformats.org/officeDocument/2006/relationships" r:id="Rd729e700e9684feb"/>
  </p:notesMasterIdLst>
  <p:sldIdLst>
    <p:sldId xmlns:r="http://schemas.openxmlformats.org/officeDocument/2006/relationships" id="256" r:id="R0423a7c737c04e8a"/>
    <p:sldId xmlns:r="http://schemas.openxmlformats.org/officeDocument/2006/relationships" id="257" r:id="Rcc0b3a2d9f144db6"/>
    <p:sldId xmlns:r="http://schemas.openxmlformats.org/officeDocument/2006/relationships" id="258" r:id="Rb9937d86bb8e4ad8"/>
    <p:sldId xmlns:r="http://schemas.openxmlformats.org/officeDocument/2006/relationships" id="259" r:id="R62ac922210ac4dbb"/>
    <p:sldId xmlns:r="http://schemas.openxmlformats.org/officeDocument/2006/relationships" id="260" r:id="R82e8379b223d4ffb"/>
    <p:sldId xmlns:r="http://schemas.openxmlformats.org/officeDocument/2006/relationships" id="261" r:id="R2d57c211ccad43b0"/>
    <p:sldId xmlns:r="http://schemas.openxmlformats.org/officeDocument/2006/relationships" id="262" r:id="R7ae79516a86947e2"/>
    <p:sldId xmlns:r="http://schemas.openxmlformats.org/officeDocument/2006/relationships" id="263" r:id="R09b0aa5cbc7645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1c151d75847b6" /><Relationship Type="http://schemas.openxmlformats.org/officeDocument/2006/relationships/slideMaster" Target="/ppt/slideMasters/slideMaster1.xml" Id="Ra787bcb7319a4641" /><Relationship Type="http://schemas.openxmlformats.org/officeDocument/2006/relationships/notesMaster" Target="/ppt/notesMasters/notesMaster1.xml" Id="Rd729e700e9684feb" /><Relationship Type="http://schemas.openxmlformats.org/officeDocument/2006/relationships/presProps" Target="/ppt/presProps.xml" Id="R1c4a7de74fb7424e" /><Relationship Type="http://schemas.openxmlformats.org/officeDocument/2006/relationships/tableStyles" Target="/ppt/tableStyles.xml" Id="R3b1d423a72f94c29" /><Relationship Type="http://schemas.openxmlformats.org/officeDocument/2006/relationships/slide" Target="/ppt/slides/slide1.xml" Id="R0423a7c737c04e8a" /><Relationship Type="http://schemas.openxmlformats.org/officeDocument/2006/relationships/slide" Target="/ppt/slides/slide2.xml" Id="Rcc0b3a2d9f144db6" /><Relationship Type="http://schemas.openxmlformats.org/officeDocument/2006/relationships/slide" Target="/ppt/slides/slide3.xml" Id="Rb9937d86bb8e4ad8" /><Relationship Type="http://schemas.openxmlformats.org/officeDocument/2006/relationships/slide" Target="/ppt/slides/slide4.xml" Id="R62ac922210ac4dbb" /><Relationship Type="http://schemas.openxmlformats.org/officeDocument/2006/relationships/slide" Target="/ppt/slides/slide5.xml" Id="R82e8379b223d4ffb" /><Relationship Type="http://schemas.openxmlformats.org/officeDocument/2006/relationships/slide" Target="/ppt/slides/slide6.xml" Id="R2d57c211ccad43b0" /><Relationship Type="http://schemas.openxmlformats.org/officeDocument/2006/relationships/slide" Target="/ppt/slides/slide7.xml" Id="R7ae79516a86947e2" /><Relationship Type="http://schemas.openxmlformats.org/officeDocument/2006/relationships/slide" Target="/ppt/slides/slide8.xml" Id="R09b0aa5cbc7645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fd4fd03b934c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1ffaeaf2e14a00" /><Relationship Type="http://schemas.openxmlformats.org/officeDocument/2006/relationships/notesMaster" Target="/ppt/notesMasters/notesMaster1.xml" Id="Rb43a56444a00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266c59a6f4200" /><Relationship Type="http://schemas.openxmlformats.org/officeDocument/2006/relationships/notesMaster" Target="/ppt/notesMasters/notesMaster1.xml" Id="Rc94526853424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a3d46c24d4aa8" /><Relationship Type="http://schemas.openxmlformats.org/officeDocument/2006/relationships/notesMaster" Target="/ppt/notesMasters/notesMaster1.xml" Id="R090ea29eb3de41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1b620cfa74f08" /><Relationship Type="http://schemas.openxmlformats.org/officeDocument/2006/relationships/notesMaster" Target="/ppt/notesMasters/notesMaster1.xml" Id="R4a89c27dce1b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67ee087b7846bd" /><Relationship Type="http://schemas.openxmlformats.org/officeDocument/2006/relationships/notesMaster" Target="/ppt/notesMasters/notesMaster1.xml" Id="R9b3e6b1811824c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48696d13341f6" /><Relationship Type="http://schemas.openxmlformats.org/officeDocument/2006/relationships/notesMaster" Target="/ppt/notesMasters/notesMaster1.xml" Id="R44e2498724e74d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1109d677a4dfa" /><Relationship Type="http://schemas.openxmlformats.org/officeDocument/2006/relationships/notesMaster" Target="/ppt/notesMasters/notesMaster1.xml" Id="R8e483363fce046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cf3e9fb32f4f97" /><Relationship Type="http://schemas.openxmlformats.org/officeDocument/2006/relationships/notesMaster" Target="/ppt/notesMasters/notesMaster1.xml" Id="Re71f50b6e063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88311eb024a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80078f5794938" /><Relationship Type="http://schemas.openxmlformats.org/officeDocument/2006/relationships/slideLayout" Target="/ppt/slideLayouts/slideLayout1.xml" Id="Rcd41091aeb5e4a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1091aeb5e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e76e95a334b5c" /><Relationship Type="http://schemas.openxmlformats.org/officeDocument/2006/relationships/image" Target="/ppt/media/image.png" Id="R394b9adee421452b" /><Relationship Type="http://schemas.openxmlformats.org/officeDocument/2006/relationships/notesSlide" Target="/ppt/notesSlides/notesSlide1.xml" Id="R31435c83315e4e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1d71bb54f42c5" /><Relationship Type="http://schemas.openxmlformats.org/officeDocument/2006/relationships/notesSlide" Target="/ppt/notesSlides/notesSlide2.xml" Id="R5ee08605fd9047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b94ea60d14a64" /><Relationship Type="http://schemas.openxmlformats.org/officeDocument/2006/relationships/chart" Target="/ppt/slides/charts/chart1.xml" Id="R04ef2139d24f47ef" /><Relationship Type="http://schemas.openxmlformats.org/officeDocument/2006/relationships/notesSlide" Target="/ppt/notesSlides/notesSlide3.xml" Id="Rcbffa5b9796d4e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d1a9c97b7429a" /><Relationship Type="http://schemas.openxmlformats.org/officeDocument/2006/relationships/chart" Target="/ppt/slides/charts/chart2.xml" Id="R0980071719ee4415" /><Relationship Type="http://schemas.openxmlformats.org/officeDocument/2006/relationships/notesSlide" Target="/ppt/notesSlides/notesSlide4.xml" Id="R141d6a193571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7f8a848324fa6" /><Relationship Type="http://schemas.openxmlformats.org/officeDocument/2006/relationships/chart" Target="/ppt/slides/charts/chart3.xml" Id="Rcba6504cb07647bd" /><Relationship Type="http://schemas.openxmlformats.org/officeDocument/2006/relationships/notesSlide" Target="/ppt/notesSlides/notesSlide5.xml" Id="R3a51d8f1ef9245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cea343cc4168" /><Relationship Type="http://schemas.openxmlformats.org/officeDocument/2006/relationships/notesSlide" Target="/ppt/notesSlides/notesSlide6.xml" Id="Re46b2ab0de5a4f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3d04def614f62" /><Relationship Type="http://schemas.openxmlformats.org/officeDocument/2006/relationships/notesSlide" Target="/ppt/notesSlides/notesSlide7.xml" Id="R56961e1054cf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6819e4d3c4b6c" /><Relationship Type="http://schemas.openxmlformats.org/officeDocument/2006/relationships/notesSlide" Target="/ppt/notesSlides/notesSlide8.xml" Id="Rfe5d8096ca094ed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NPS médio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Sem atraso</c:v>
              </c:pt>
              <c:pt idx="1">
                <c:v>1-2 dias</c:v>
              </c:pt>
              <c:pt idx="2">
                <c:v>3-4 dias</c:v>
              </c:pt>
              <c:pt idx="3">
                <c:v>5+ dias</c:v>
              </c:pt>
            </c:strLit>
          </c:cat>
          <c:val>
            <c:numLit>
              <c:formatCode>General</c:formatCode>
              <c:ptCount val="4"/>
              <c:pt idx="0">
                <c:v>6.86</c:v>
              </c:pt>
              <c:pt idx="1">
                <c:v>5.05</c:v>
              </c:pt>
              <c:pt idx="2">
                <c:v>3.1</c:v>
              </c:pt>
              <c:pt idx="3">
                <c:v>1.28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Detratores por reclamações (%)</c:v>
          </c:tx>
          <c:spPr>
            <a:ln xmlns:a="http://schemas.openxmlformats.org/drawingml/2006/main" w="38100">
              <a:solidFill>
                <a:srgbClr val="D64545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0-1</c:v>
              </c:pt>
              <c:pt idx="1">
                <c:v>2-3</c:v>
              </c:pt>
              <c:pt idx="2">
                <c:v>4-5</c:v>
              </c:pt>
              <c:pt idx="3">
                <c:v>6+</c:v>
              </c:pt>
            </c:strLit>
          </c:cat>
          <c:val>
            <c:numLit>
              <c:formatCode>General</c:formatCode>
              <c:ptCount val="4"/>
              <c:pt idx="0">
                <c:v>7.6</c:v>
              </c:pt>
              <c:pt idx="1">
                <c:v>59.1</c:v>
              </c:pt>
              <c:pt idx="2">
                <c:v>84.2</c:v>
              </c:pt>
              <c:pt idx="3">
                <c:v>94.5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Baseline</c:v>
              </c:pt>
              <c:pt idx="1">
                <c:v>Reg. logística</c:v>
              </c:pt>
              <c:pt idx="2">
                <c:v>Random forest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0.877</c:v>
              </c:pt>
              <c:pt idx="2">
                <c:v>0.869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3E5876F-294F-4CD4-9183-638D317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5524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 CHALLENGE | FASE 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29BC16-3C48-43AF-B769-B3A6634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5334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NPS preditivo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144477-4495-4BD7-A3F0-9061A125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14625"/>
            <a:ext cx="5191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Como agir antes que a insatisfação vire detração</a:t>
            </a:r>
          </a:p>
        </p:txBody>
      </p:sp>
      <p:sp>
        <p:nvSpPr>
          <p:cNvPr id="4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BB29FC44-7B6F-4B1A-8A8F-13701BB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38750"/>
            <a:ext cx="5191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Análise de 2.500 pedidos | E-commerce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A8543D17-8647-4078-99FC-D8DBBFBE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b9adee421452b"/>
          <a:stretch xmlns:a="http://schemas.openxmlformats.org/drawingml/2006/main"/>
        </p:blipFill>
        <p:spPr>
          <a:xfrm xmlns:a="http://schemas.openxmlformats.org/drawingml/2006/main">
            <a:off x="6391275" y="1611630"/>
            <a:ext cx="5295900" cy="31775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6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s-slide-19-title">
            <a:extLst xmlns:a="http://schemas.openxmlformats.org/drawingml/2006/main">
              <a:ext uri="{FF2B5EF4-FFF2-40B4-BE49-F238E27FC236}">
                <a16:creationId xmlns:a16="http://schemas.microsoft.com/office/drawing/2014/main" id="{2B5EC6B8-01DA-49C1-8EED-7F86183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insatisfação já domina a base</a:t>
            </a:r>
          </a:p>
        </p:txBody>
      </p:sp>
      <p:sp>
        <p:nvSpPr>
          <p:cNvPr id="2" name="metrics-slide-19-footer">
            <a:extLst xmlns:a="http://schemas.openxmlformats.org/drawingml/2006/main">
              <a:ext uri="{FF2B5EF4-FFF2-40B4-BE49-F238E27FC236}">
                <a16:creationId xmlns:a16="http://schemas.microsoft.com/office/drawing/2014/main" id="{EB2BFD72-EA65-43EC-A024-0505182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570DC-196A-4BFC-AAC6-1AC8C40A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11401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pergunta não é apenas por que o NPS caiu. É onde a operação pode agir antes da pesquisa para recuperar a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E8E7A-B625-453D-ACD1-8CB6CF7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75D9B-7CF9-4C11-AE11-E69599D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-69,6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3617-8724-4409-B1B6-42DF05E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NPS tradicional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68669-0224-4263-A91E-31123B39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D3CB3-145E-4C1C-99D6-0E29B81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74,0%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970A7-03E4-41B1-A4DD-6F7F161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dos pedidos são detratores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FF73C-8D2B-4970-BAFF-F219CD2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23DC-7564-4FEB-BEEC-BCFF401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4,4%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4EFC0-4E99-40A1-B642-BBFC4E0F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dos pedidos são promotores</a:t>
            </a:r>
          </a:p>
        </p:txBody>
      </p:sp>
    </p:spTree>
    <p:extLst>
      <p:ext uri="{BB962C8B-B14F-4D97-AF65-F5344CB8AC3E}">
        <p14:creationId xmlns:p14="http://schemas.microsoft.com/office/powerpoint/2010/main" val="1349492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0-delay-title">
            <a:extLst xmlns:a="http://schemas.openxmlformats.org/drawingml/2006/main">
              <a:ext uri="{FF2B5EF4-FFF2-40B4-BE49-F238E27FC236}">
                <a16:creationId xmlns:a16="http://schemas.microsoft.com/office/drawing/2014/main" id="{167C81E2-6370-4F82-A39A-476E5D9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Três dias de atraso marcam o ponto de ruptura</a:t>
            </a:r>
          </a:p>
        </p:txBody>
      </p:sp>
      <p:sp>
        <p:nvSpPr>
          <p:cNvPr id="2" name="chart-slide-20-delay-footer">
            <a:extLst xmlns:a="http://schemas.openxmlformats.org/drawingml/2006/main">
              <a:ext uri="{FF2B5EF4-FFF2-40B4-BE49-F238E27FC236}">
                <a16:creationId xmlns:a16="http://schemas.microsoft.com/office/drawing/2014/main" id="{1498AB6B-59F4-414B-83E7-1FD41CF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285875"/>
          <a:ext xmlns:a="http://schemas.openxmlformats.org/drawingml/2006/main" cx="5429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f2139d24f47e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8EEAD-4590-4A17-8045-6AEB298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3825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376B5-BA82-4269-805E-56B2C78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 atraso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1F0E8-5006-4253-B1C9-2D8FC65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NPS médio 6,86 e 36,5% de detratores.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2AE25-C4B4-4479-A27A-ABC3FA6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4F41F-939A-443B-9A97-889A874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3-4 dias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E9912-FD39-4A79-948B-6F91591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detração salta para 91,8%.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23696-7E4B-4A82-8FE9-D0A0BFF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0B77-A082-45D7-85F6-0958987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5+ dias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637D9-752C-4937-8CA4-528F82F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99,4% são detratores: recuperação urgente.</a:t>
            </a:r>
          </a:p>
        </p:txBody>
      </p:sp>
    </p:spTree>
    <p:extLst>
      <p:ext uri="{BB962C8B-B14F-4D97-AF65-F5344CB8AC3E}">
        <p14:creationId xmlns:p14="http://schemas.microsoft.com/office/powerpoint/2010/main" val="1597126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1-service-title">
            <a:extLst xmlns:a="http://schemas.openxmlformats.org/drawingml/2006/main">
              <a:ext uri="{FF2B5EF4-FFF2-40B4-BE49-F238E27FC236}">
                <a16:creationId xmlns:a16="http://schemas.microsoft.com/office/drawing/2014/main" id="{48DC1F92-C81F-4039-91C2-D737098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Reclamações e contatos repetidos sinalizam falha acumulada</a:t>
            </a:r>
          </a:p>
        </p:txBody>
      </p:sp>
      <p:sp>
        <p:nvSpPr>
          <p:cNvPr id="2" name="chart-slide-21-service-footer">
            <a:extLst xmlns:a="http://schemas.openxmlformats.org/drawingml/2006/main">
              <a:ext uri="{FF2B5EF4-FFF2-40B4-BE49-F238E27FC236}">
                <a16:creationId xmlns:a16="http://schemas.microsoft.com/office/drawing/2014/main" id="{84A34A66-9EB7-4E08-818C-51C79D1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381000" y="1381125"/>
          <a:ext xmlns:a="http://schemas.openxmlformats.org/drawingml/2006/main" cx="56197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80071719ee441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2A4C-C13A-4254-BBC1-E5D051A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contato não é necessariamente a causa. Ele é um sinal de que um problema anterior continua sem solução.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1B4B-8893-40E6-9618-039993F6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987EF-8555-47CE-845C-1A7E127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94,5%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4174-E9F4-4F0F-B757-A2D98E8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detratores com 6+ reclamações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D1317-D6B5-4090-BAD9-AE3B6BD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2428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4ED3-0CBD-41D7-AB01-A1A54FF1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57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90,4%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460CB-FE10-4662-990F-D461426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detratores com 3+ contatos</a:t>
            </a:r>
          </a:p>
        </p:txBody>
      </p:sp>
    </p:spTree>
    <p:extLst>
      <p:ext uri="{BB962C8B-B14F-4D97-AF65-F5344CB8AC3E}">
        <p14:creationId xmlns:p14="http://schemas.microsoft.com/office/powerpoint/2010/main" val="1143400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0-model-title">
            <a:extLst xmlns:a="http://schemas.openxmlformats.org/drawingml/2006/main">
              <a:ext uri="{FF2B5EF4-FFF2-40B4-BE49-F238E27FC236}">
                <a16:creationId xmlns:a16="http://schemas.microsoft.com/office/drawing/2014/main" id="{6E372B81-3311-4F4D-9CFA-DD62979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modelo ordena risco sem usar informação do futuro</a:t>
            </a:r>
          </a:p>
        </p:txBody>
      </p:sp>
      <p:sp>
        <p:nvSpPr>
          <p:cNvPr id="2" name="chart-slide-20-model-footer">
            <a:extLst xmlns:a="http://schemas.openxmlformats.org/drawingml/2006/main">
              <a:ext uri="{FF2B5EF4-FFF2-40B4-BE49-F238E27FC236}">
                <a16:creationId xmlns:a16="http://schemas.microsoft.com/office/drawing/2014/main" id="{6186B9A1-D013-42F6-AAC7-D041902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2925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a6504cb07647b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2157-857A-4B29-A294-41407B6C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8587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E517F-4756-4225-8423-478E0257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Alvo acionável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8DDB-521B-440B-A8A2-11FFC2F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Detrator = nota NPS até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C500F-AB4A-4797-92D9-863BB5C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AC3EC-52ED-4084-B1C5-78AC08C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 vazamento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C5EBD-A051-4869-BB16-C134F27D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Recompra e CSAT ficaram fora da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C392C-1C46-4314-8FA6-CF04354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2437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B45C0-12E9-4541-AE22-4E8A5044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prático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4672-6768-4774-8C8D-068D2C1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probabilidade vira uma fila de recuperação.</a:t>
            </a:r>
          </a:p>
        </p:txBody>
      </p:sp>
    </p:spTree>
    <p:extLst>
      <p:ext uri="{BB962C8B-B14F-4D97-AF65-F5344CB8AC3E}">
        <p14:creationId xmlns:p14="http://schemas.microsoft.com/office/powerpoint/2010/main" val="474095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meline-slide-17-title">
            <a:extLst xmlns:a="http://schemas.openxmlformats.org/drawingml/2006/main">
              <a:ext uri="{FF2B5EF4-FFF2-40B4-BE49-F238E27FC236}">
                <a16:creationId xmlns:a16="http://schemas.microsoft.com/office/drawing/2014/main" id="{845B4345-ADCF-45A2-9D4F-1D057DE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resposta combina alerta, recuperação e aprendizado</a:t>
            </a:r>
          </a:p>
        </p:txBody>
      </p:sp>
      <p:sp>
        <p:nvSpPr>
          <p:cNvPr id="2" name="timeline-slide-17-footer">
            <a:extLst xmlns:a="http://schemas.openxmlformats.org/drawingml/2006/main">
              <a:ext uri="{FF2B5EF4-FFF2-40B4-BE49-F238E27FC236}">
                <a16:creationId xmlns:a16="http://schemas.microsoft.com/office/drawing/2014/main" id="{07405B7F-C4EA-401F-BE25-313430E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4D83C-53C8-4457-961B-8A8EAC8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07C5-053B-418D-8B4A-D76DF70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D5BD-1F22-4881-86C7-CA886FC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4F5A-EAC3-41A9-B334-9A47DCC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6076-D6AD-42C5-AD45-CA9A92C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Alertar a partir de 3 dias de atraso e no segundo contato.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0C3D5-320C-4A27-88E6-53A1F1D6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E414B-CEF8-4FAC-A7AE-BEACBE5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30-60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C5EBB-55DB-4024-BAD7-B4EA6E64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Recuperar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707C7-0A75-4422-A51F-BE05BA4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Priorizar risco crítico e testar contato ou compensação.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6252B-5341-4C5F-9A52-6259315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D6FE4-D8B1-4FFC-A3BE-0297563C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90 DIAS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4DF07-77C0-4808-9980-66CF43A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87A7F-1DEB-48E5-85B2-A6433512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Medir NPS, recompra, custo e recalibrar os limites.</a:t>
            </a:r>
          </a:p>
        </p:txBody>
      </p:sp>
    </p:spTree>
    <p:extLst>
      <p:ext uri="{BB962C8B-B14F-4D97-AF65-F5344CB8AC3E}">
        <p14:creationId xmlns:p14="http://schemas.microsoft.com/office/powerpoint/2010/main" val="336656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ecklist-slide-10-title">
            <a:extLst xmlns:a="http://schemas.openxmlformats.org/drawingml/2006/main">
              <a:ext uri="{FF2B5EF4-FFF2-40B4-BE49-F238E27FC236}">
                <a16:creationId xmlns:a16="http://schemas.microsoft.com/office/drawing/2014/main" id="{0ED76FEE-1804-4A3B-A4E1-47AECA0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score orienta cuidado; não substitui julgamento</a:t>
            </a:r>
          </a:p>
        </p:txBody>
      </p:sp>
      <p:sp>
        <p:nvSpPr>
          <p:cNvPr id="2" name="checklist-slide-10-footer">
            <a:extLst xmlns:a="http://schemas.openxmlformats.org/drawingml/2006/main">
              <a:ext uri="{FF2B5EF4-FFF2-40B4-BE49-F238E27FC236}">
                <a16:creationId xmlns:a16="http://schemas.microsoft.com/office/drawing/2014/main" id="{9B356F35-2932-40C0-920A-4A318883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67ED2-0BF7-4615-B811-ECE50C0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Limites da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D79D9-E5EE-40B3-B05B-96062B9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23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base não tem data, SLA prometido, transportadora, motivo do contato nem taxa de resposta. Há um pedido por cliente e associação não prova causalidade.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21DF8-A6CB-48A5-9ED9-CD2ED6F3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implantação deve começar como teste prospectivo e comparar resultado e custo contra um grupo de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70EE6-1FBC-4FB3-BB4A-B4FA3EEF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35ADF-990E-402D-9340-A7E0865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583DE-6059-4D3A-8530-6FBEE32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07CE4-13B2-4DD3-8906-B8609541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 controlado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DE0FC-5805-49B2-BCB4-760B020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B9331-2743-45F9-A207-417B7176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Monitoramento de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05573-B21F-4BCD-B116-AC11F843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CF379-E63C-4D51-ADB9-EE17FCD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Calibração do limite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A003B-6A2B-4B1D-A1C7-30935356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F0857-1004-4918-878F-0FA1D79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não discriminatório</a:t>
            </a:r>
          </a:p>
        </p:txBody>
      </p:sp>
    </p:spTree>
    <p:extLst>
      <p:ext uri="{BB962C8B-B14F-4D97-AF65-F5344CB8AC3E}">
        <p14:creationId xmlns:p14="http://schemas.microsoft.com/office/powerpoint/2010/main" val="125284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CC85A3AD-95FD-4567-8BA3-A648F82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F7F4D7A-206D-402A-A8D0-3BD9B80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0096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Intervir antes da pesquisa</a:t>
            </a:r>
          </a:p>
        </p:txBody>
      </p:sp>
      <p:sp>
        <p:nvSpPr>
          <p:cNvPr id="3" name="closing-priorities">
            <a:extLst xmlns:a="http://schemas.openxmlformats.org/drawingml/2006/main">
              <a:ext uri="{FF2B5EF4-FFF2-40B4-BE49-F238E27FC236}">
                <a16:creationId xmlns:a16="http://schemas.microsoft.com/office/drawing/2014/main" id="{1B5AA029-28E0-4073-BF27-27E3912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5715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atraso de 3 dias ou mais
2. segundo contato
3. reclamações acumuladas</a:t>
            </a:r>
          </a:p>
        </p:txBody>
      </p:sp>
    </p:spTree>
    <p:extLst>
      <p:ext uri="{BB962C8B-B14F-4D97-AF65-F5344CB8AC3E}">
        <p14:creationId xmlns:p14="http://schemas.microsoft.com/office/powerpoint/2010/main" val="2079624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2026-07-13T15:18:06.5650000Z</dcterms:created>
  <dcterms:modified xsi:type="dcterms:W3CDTF">2026-07-13T15:18:06.5650000Z</dcterms:modified>
</coreProperties>
</file>