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c6690007084e7e" /><Relationship Type="http://schemas.openxmlformats.org/officeDocument/2006/relationships/extended-properties" Target="/docProps/app.xml" Id="R7102a644f9844447" /><Relationship Type="http://schemas.openxmlformats.org/officeDocument/2006/relationships/officeDocument" Target="/ppt/presentation.xml" Id="Re20493eeb90a41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f149b0ea1547d4"/>
  </p:sldMasterIdLst>
  <p:notesMasterIdLst>
    <p:notesMasterId xmlns:r="http://schemas.openxmlformats.org/officeDocument/2006/relationships" r:id="R2e732ed033ed4d6c"/>
  </p:notesMasterIdLst>
  <p:sldIdLst>
    <p:sldId xmlns:r="http://schemas.openxmlformats.org/officeDocument/2006/relationships" id="256" r:id="R97b73a09025e4cda"/>
    <p:sldId xmlns:r="http://schemas.openxmlformats.org/officeDocument/2006/relationships" id="257" r:id="R00cc700006384817"/>
    <p:sldId xmlns:r="http://schemas.openxmlformats.org/officeDocument/2006/relationships" id="258" r:id="Rb362be7bb65b4049"/>
    <p:sldId xmlns:r="http://schemas.openxmlformats.org/officeDocument/2006/relationships" id="259" r:id="R722fc27105ab4310"/>
    <p:sldId xmlns:r="http://schemas.openxmlformats.org/officeDocument/2006/relationships" id="260" r:id="R3e14bed076f04ad6"/>
    <p:sldId xmlns:r="http://schemas.openxmlformats.org/officeDocument/2006/relationships" id="261" r:id="R56a983a7fa0e4cbb"/>
    <p:sldId xmlns:r="http://schemas.openxmlformats.org/officeDocument/2006/relationships" id="262" r:id="Rf8c06ffcd28d4802"/>
    <p:sldId xmlns:r="http://schemas.openxmlformats.org/officeDocument/2006/relationships" id="263" r:id="R2f2c759a3aa948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0a7488a0247f6" /><Relationship Type="http://schemas.openxmlformats.org/officeDocument/2006/relationships/slideMaster" Target="/ppt/slideMasters/slideMaster1.xml" Id="R3ef149b0ea1547d4" /><Relationship Type="http://schemas.openxmlformats.org/officeDocument/2006/relationships/notesMaster" Target="/ppt/notesMasters/notesMaster1.xml" Id="R2e732ed033ed4d6c" /><Relationship Type="http://schemas.openxmlformats.org/officeDocument/2006/relationships/presProps" Target="/ppt/presProps.xml" Id="R5e3ffcaaaa52469e" /><Relationship Type="http://schemas.openxmlformats.org/officeDocument/2006/relationships/tableStyles" Target="/ppt/tableStyles.xml" Id="Rfbd6e09d60414c49" /><Relationship Type="http://schemas.openxmlformats.org/officeDocument/2006/relationships/slide" Target="/ppt/slides/slide1.xml" Id="R97b73a09025e4cda" /><Relationship Type="http://schemas.openxmlformats.org/officeDocument/2006/relationships/slide" Target="/ppt/slides/slide2.xml" Id="R00cc700006384817" /><Relationship Type="http://schemas.openxmlformats.org/officeDocument/2006/relationships/slide" Target="/ppt/slides/slide3.xml" Id="Rb362be7bb65b4049" /><Relationship Type="http://schemas.openxmlformats.org/officeDocument/2006/relationships/slide" Target="/ppt/slides/slide4.xml" Id="R722fc27105ab4310" /><Relationship Type="http://schemas.openxmlformats.org/officeDocument/2006/relationships/slide" Target="/ppt/slides/slide5.xml" Id="R3e14bed076f04ad6" /><Relationship Type="http://schemas.openxmlformats.org/officeDocument/2006/relationships/slide" Target="/ppt/slides/slide6.xml" Id="R56a983a7fa0e4cbb" /><Relationship Type="http://schemas.openxmlformats.org/officeDocument/2006/relationships/slide" Target="/ppt/slides/slide7.xml" Id="Rf8c06ffcd28d4802" /><Relationship Type="http://schemas.openxmlformats.org/officeDocument/2006/relationships/slide" Target="/ppt/slides/slide8.xml" Id="R2f2c759a3aa948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fa01b7579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cd63ebfb9409b" /><Relationship Type="http://schemas.openxmlformats.org/officeDocument/2006/relationships/notesMaster" Target="/ppt/notesMasters/notesMaster1.xml" Id="R38b22216a40240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6e30c360e34d25" /><Relationship Type="http://schemas.openxmlformats.org/officeDocument/2006/relationships/notesMaster" Target="/ppt/notesMasters/notesMaster1.xml" Id="R313c4f48781145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f327256ef49c4" /><Relationship Type="http://schemas.openxmlformats.org/officeDocument/2006/relationships/notesMaster" Target="/ppt/notesMasters/notesMaster1.xml" Id="Rad7ebb65fdc3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c40b858be54fb2" /><Relationship Type="http://schemas.openxmlformats.org/officeDocument/2006/relationships/notesMaster" Target="/ppt/notesMasters/notesMaster1.xml" Id="Rb05888c7778f40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6febf88caf4298" /><Relationship Type="http://schemas.openxmlformats.org/officeDocument/2006/relationships/notesMaster" Target="/ppt/notesMasters/notesMaster1.xml" Id="R00b8a17ec8454b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608bd0c8bb4dfb" /><Relationship Type="http://schemas.openxmlformats.org/officeDocument/2006/relationships/notesMaster" Target="/ppt/notesMasters/notesMaster1.xml" Id="R02f60cb0bd5840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194a8791174dff" /><Relationship Type="http://schemas.openxmlformats.org/officeDocument/2006/relationships/notesMaster" Target="/ppt/notesMasters/notesMaster1.xml" Id="R45d1dc3896444f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84e359f20f4a0d" /><Relationship Type="http://schemas.openxmlformats.org/officeDocument/2006/relationships/notesMaster" Target="/ppt/notesMasters/notesMaster1.xml" Id="R60fff28687594f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164a6df46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e6171df2a4bf0" /><Relationship Type="http://schemas.openxmlformats.org/officeDocument/2006/relationships/slideLayout" Target="/ppt/slideLayouts/slideLayout1.xml" Id="R87e38aba3f0640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38aba3f0640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9b02811ba46be" /><Relationship Type="http://schemas.openxmlformats.org/officeDocument/2006/relationships/image" Target="/ppt/media/image.png" Id="R1a50400cee8d4854" /><Relationship Type="http://schemas.openxmlformats.org/officeDocument/2006/relationships/notesSlide" Target="/ppt/notesSlides/notesSlide1.xml" Id="R6e6c130ae00647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cbb2cd794304" /><Relationship Type="http://schemas.openxmlformats.org/officeDocument/2006/relationships/notesSlide" Target="/ppt/notesSlides/notesSlide2.xml" Id="Rd936b486bf4a4d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17069fc134d16" /><Relationship Type="http://schemas.openxmlformats.org/officeDocument/2006/relationships/chart" Target="/ppt/slides/charts/chart1.xml" Id="R8cda283a595a47a9" /><Relationship Type="http://schemas.openxmlformats.org/officeDocument/2006/relationships/notesSlide" Target="/ppt/notesSlides/notesSlide3.xml" Id="Rec41a7da828344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2bf064c7e4aba" /><Relationship Type="http://schemas.openxmlformats.org/officeDocument/2006/relationships/chart" Target="/ppt/slides/charts/chart2.xml" Id="R5532f6c3988f4acd" /><Relationship Type="http://schemas.openxmlformats.org/officeDocument/2006/relationships/notesSlide" Target="/ppt/notesSlides/notesSlide4.xml" Id="Rf4609ef77bd946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736733ec341a0" /><Relationship Type="http://schemas.openxmlformats.org/officeDocument/2006/relationships/chart" Target="/ppt/slides/charts/chart3.xml" Id="R24a78f99e2114999" /><Relationship Type="http://schemas.openxmlformats.org/officeDocument/2006/relationships/notesSlide" Target="/ppt/notesSlides/notesSlide5.xml" Id="R96231f2af8124c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636f1334d4077" /><Relationship Type="http://schemas.openxmlformats.org/officeDocument/2006/relationships/notesSlide" Target="/ppt/notesSlides/notesSlide6.xml" Id="R33f40c8b50c540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44a58b771492d" /><Relationship Type="http://schemas.openxmlformats.org/officeDocument/2006/relationships/notesSlide" Target="/ppt/notesSlides/notesSlide7.xml" Id="R132cc57f439f47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aa88e77db4f59" /><Relationship Type="http://schemas.openxmlformats.org/officeDocument/2006/relationships/notesSlide" Target="/ppt/notesSlides/notesSlide8.xml" Id="R2e9daa8af4954e6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Baseline</c:v>
              </c:pt>
              <c:pt idx="1">
                <c:v>Logística</c:v>
              </c:pt>
              <c:pt idx="2">
                <c:v>RF calibrada</c:v>
              </c:pt>
              <c:pt idx="3">
                <c:v>Com leakage</c:v>
              </c:pt>
            </c:strLit>
          </c:cat>
          <c:val>
            <c:numLit>
              <c:formatCode>General</c:formatCode>
              <c:ptCount val="4"/>
              <c:pt idx="0">
                <c:v>0.5</c:v>
              </c:pt>
              <c:pt idx="1">
                <c:v>0.7248</c:v>
              </c:pt>
              <c:pt idx="2">
                <c:v>0.728</c:v>
              </c:pt>
              <c:pt idx="3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Average Precision</c:v>
          </c:tx>
          <c:spPr>
            <a:ln xmlns:a="http://schemas.openxmlformats.org/drawingml/2006/main" w="38100">
              <a:solidFill>
                <a:srgbClr val="D64545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Baseline</c:v>
              </c:pt>
              <c:pt idx="1">
                <c:v>Logística</c:v>
              </c:pt>
              <c:pt idx="2">
                <c:v>RF</c:v>
              </c:pt>
              <c:pt idx="3">
                <c:v>RF calibrada</c:v>
              </c:pt>
            </c:strLit>
          </c:cat>
          <c:val>
            <c:numLit>
              <c:formatCode>General</c:formatCode>
              <c:ptCount val="4"/>
              <c:pt idx="0">
                <c:v>0.1216</c:v>
              </c:pt>
              <c:pt idx="1">
                <c:v>0.3245</c:v>
              </c:pt>
              <c:pt idx="2">
                <c:v>0.3371</c:v>
              </c:pt>
              <c:pt idx="3">
                <c:v>0.3498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Precision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Baseline</c:v>
              </c:pt>
              <c:pt idx="1">
                <c:v>Logística</c:v>
              </c:pt>
              <c:pt idx="2">
                <c:v>RF</c:v>
              </c:pt>
              <c:pt idx="3">
                <c:v>RF calibrada</c:v>
              </c:pt>
            </c:strLit>
          </c:cat>
          <c:val>
            <c:numLit>
              <c:formatCode>General</c:formatCode>
              <c:ptCount val="4"/>
              <c:pt idx="0">
                <c:v>0.1216</c:v>
              </c:pt>
              <c:pt idx="1">
                <c:v>0.3245</c:v>
              </c:pt>
              <c:pt idx="2">
                <c:v>0.3371</c:v>
              </c:pt>
              <c:pt idx="3">
                <c:v>0.3498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3E5876F-294F-4CD4-9183-638D3173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5524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3E86FF"/>
                </a:solidFill>
                <a:latin typeface="Arial"/>
                <a:ea typeface="Arial"/>
                <a:cs typeface="Arial"/>
              </a:rPr>
              <a:t>DESAFIO DA DISCIPLINA | CRISP-DM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E29BC16-3C48-43AF-B769-B3A6634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5334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4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PayFlow Credit Risk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144477-4495-4BD7-A3F0-9061A125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14625"/>
            <a:ext cx="5191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Como reduzir default em 90 dias sem travar o crescimento</a:t>
            </a:r>
          </a:p>
        </p:txBody>
      </p:sp>
      <p:sp>
        <p:nvSpPr>
          <p:cNvPr id="4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BB29FC44-7B6F-4B1A-8A8F-13701BBB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82312"/>
            <a:ext cx="5191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Análise de 5.000 clientes | Fintech</a:t>
            </a:r>
          </a:p>
        </p:txBody>
      </p:sp>
      <p:sp>
        <p:nvSpPr>
          <p:cNvPr id="5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A8543D17-8647-4078-99FC-D8DBBFBE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0400cee8d4854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1611630"/>
            <a:ext cx="5295900" cy="3177540"/>
          </a:xfrm>
          <a:prstGeom xmlns:a="http://schemas.openxmlformats.org/drawingml/2006/main" prst="rect">
            <a:avLst/>
          </a:prstGeom>
        </p:spPr>
      </p:pic>
      <p:sp>
        <p:nvSpPr>
          <p:cNvPr id="13" name="cover-group-info">
            <a:extLst xmlns:a="http://schemas.openxmlformats.org/drawingml/2006/main">
              <a:ext uri="{FF2B5EF4-FFF2-40B4-BE49-F238E27FC236}">
                <a16:creationId xmlns:a16="http://schemas.microsoft.com/office/drawing/2014/main" id="{D045B1BB-A847-4F09-B81E-5E9A9F2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5504688"/>
            <a:ext cx="548640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12700">
            <a:solidFill>
              <a:srgbClr val="CDDD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73152" rIns="109728" bIns="54864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41E2D"/>
                </a:solidFill>
                <a:latin typeface="Arial"/>
                <a:ea typeface="Arial"/>
                <a:cs typeface="Arial"/>
              </a:rPr>
              <a:t>Grupo: Individual  |  Integrante: Fulvius Wolfgang Macedo</a:t>
            </a:r>
          </a:p>
        </p:txBody>
      </p:sp>
      <p:sp>
        <p:nvSpPr>
          <p:cNvPr id="14" name="cover-course-info">
            <a:extLst xmlns:a="http://schemas.openxmlformats.org/drawingml/2006/main">
              <a:ext uri="{FF2B5EF4-FFF2-40B4-BE49-F238E27FC236}">
                <a16:creationId xmlns:a16="http://schemas.microsoft.com/office/drawing/2014/main" id="{456B8FB6-154C-4C6D-ABD3-F1087C0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172200"/>
            <a:ext cx="4892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978"/>
                </a:solidFill>
                <a:latin typeface="Arial"/>
                <a:ea typeface="Arial"/>
                <a:cs typeface="Arial"/>
              </a:rPr>
              <a:t>Pós-Tech AI Scientist • FIAP/Alura</a:t>
            </a:r>
          </a:p>
        </p:txBody>
      </p:sp>
    </p:spTree>
    <p:extLst>
      <p:ext uri="{BB962C8B-B14F-4D97-AF65-F5344CB8AC3E}">
        <p14:creationId xmlns:p14="http://schemas.microsoft.com/office/powerpoint/2010/main" val="429096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s-slide-19-title">
            <a:extLst xmlns:a="http://schemas.openxmlformats.org/drawingml/2006/main">
              <a:ext uri="{FF2B5EF4-FFF2-40B4-BE49-F238E27FC236}">
                <a16:creationId xmlns:a16="http://schemas.microsoft.com/office/drawing/2014/main" id="{2B5EC6B8-01DA-49C1-8EED-7F861834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inadimplência inicial exige decisão mais consistente</a:t>
            </a:r>
          </a:p>
        </p:txBody>
      </p:sp>
      <p:sp>
        <p:nvSpPr>
          <p:cNvPr id="2" name="metrics-slide-19-footer">
            <a:extLst xmlns:a="http://schemas.openxmlformats.org/drawingml/2006/main">
              <a:ext uri="{FF2B5EF4-FFF2-40B4-BE49-F238E27FC236}">
                <a16:creationId xmlns:a16="http://schemas.microsoft.com/office/drawing/2014/main" id="{EB2BFD72-EA65-43EC-A024-0505182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570DC-196A-4BFC-AAC6-1AC8C40A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114014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desafio é reduzir perda sem travar crescimento nem sobrecarregar a revisão de crédito.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E8E7A-B625-453D-ACD1-8CB6CF7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75D9B-7CF9-4C11-AE11-E69599D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12,18%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33617-8724-4409-B1B6-42DF05E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dos clientes entram em 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68669-0224-4263-A91E-31123B39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D3CB3-145E-4C1C-99D6-0E29B813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609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970A7-03E4-41B1-A4DD-6F7F161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defaults em 90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FF73C-8D2B-4970-BAFF-F219CD2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F23DC-7564-4FEB-BEEC-BCFF401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5.000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4EFC0-4E99-40A1-B642-BBFC4E0F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clientes analisados</a:t>
            </a:r>
          </a:p>
        </p:txBody>
      </p:sp>
      <p:sp>
        <p:nvSpPr>
          <p:cNvPr id="13" name="footer-presenter">
            <a:extLst xmlns:a="http://schemas.openxmlformats.org/drawingml/2006/main">
              <a:ext uri="{FF2B5EF4-FFF2-40B4-BE49-F238E27FC236}">
                <a16:creationId xmlns:a16="http://schemas.microsoft.com/office/drawing/2014/main" id="{FC8B3AC8-B56E-41FF-892F-77ED2905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51967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8C96A0"/>
                </a:solidFill>
                <a:latin typeface="Arial"/>
                <a:ea typeface="Arial"/>
                <a:cs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349492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0-delay-title">
            <a:extLst xmlns:a="http://schemas.openxmlformats.org/drawingml/2006/main">
              <a:ext uri="{FF2B5EF4-FFF2-40B4-BE49-F238E27FC236}">
                <a16:creationId xmlns:a16="http://schemas.microsoft.com/office/drawing/2014/main" id="{167C81E2-6370-4F82-A39A-476E5D9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Leakage faz um modelo inválido parecer perfeito</a:t>
            </a:r>
          </a:p>
        </p:txBody>
      </p:sp>
      <p:sp>
        <p:nvSpPr>
          <p:cNvPr id="2" name="chart-slide-20-delay-footer">
            <a:extLst xmlns:a="http://schemas.openxmlformats.org/drawingml/2006/main">
              <a:ext uri="{FF2B5EF4-FFF2-40B4-BE49-F238E27FC236}">
                <a16:creationId xmlns:a16="http://schemas.microsoft.com/office/drawing/2014/main" id="{1498AB6B-59F4-414B-83E7-1FD41CF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285875"/>
          <a:ext xmlns:a="http://schemas.openxmlformats.org/drawingml/2006/main" cx="54292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da283a595a47a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8EEAD-4590-4A17-8045-6AEB298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3825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376B5-BA82-4269-805E-56B2C78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Antes da concessão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1F0E8-5006-4253-B1C9-2D8FC65D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Somente dados disponíveis na decisão entram no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2AE25-C4B4-4479-A27A-ABC3FA6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4F41F-939A-443B-9A97-889A874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Futuro proibido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E9912-FD39-4A79-948B-6F91591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Parcelas, 1º atraso e status 90d ficam fora.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23696-7E4B-4A82-8FE9-D0A0BFF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0B77-A082-45D7-85F6-0958987F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Sinal de alerta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637D9-752C-4937-8CA4-528F82F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AUC 1,000 denuncia vazamento de informação.</a:t>
            </a:r>
          </a:p>
        </p:txBody>
      </p:sp>
      <p:sp>
        <p:nvSpPr>
          <p:cNvPr id="16" name="footer-presenter">
            <a:extLst xmlns:a="http://schemas.openxmlformats.org/drawingml/2006/main">
              <a:ext uri="{FF2B5EF4-FFF2-40B4-BE49-F238E27FC236}">
                <a16:creationId xmlns:a16="http://schemas.microsoft.com/office/drawing/2014/main" id="{08E62C53-09CB-45C1-A391-B3D57B1D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51967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8C96A0"/>
                </a:solidFill>
                <a:latin typeface="Arial"/>
                <a:ea typeface="Arial"/>
                <a:cs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597126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1-service-title">
            <a:extLst xmlns:a="http://schemas.openxmlformats.org/drawingml/2006/main">
              <a:ext uri="{FF2B5EF4-FFF2-40B4-BE49-F238E27FC236}">
                <a16:creationId xmlns:a16="http://schemas.microsoft.com/office/drawing/2014/main" id="{48DC1F92-C81F-4039-91C2-D737098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modelo separa risco; a calibração torna a PD utilizável</a:t>
            </a:r>
          </a:p>
        </p:txBody>
      </p:sp>
      <p:sp>
        <p:nvSpPr>
          <p:cNvPr id="2" name="chart-slide-21-service-footer">
            <a:extLst xmlns:a="http://schemas.openxmlformats.org/drawingml/2006/main">
              <a:ext uri="{FF2B5EF4-FFF2-40B4-BE49-F238E27FC236}">
                <a16:creationId xmlns:a16="http://schemas.microsoft.com/office/drawing/2014/main" id="{84A34A66-9EB7-4E08-818C-51C79D1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381000" y="1381125"/>
          <a:ext xmlns:a="http://schemas.openxmlformats.org/drawingml/2006/main" cx="56197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32f6c3988f4ac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A2A4C-C13A-4254-BBC1-E5D051A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AUC mede ordenação. Average Precision mostra o ganho na classe rara; Brier avalia a qualidade da probabilidade.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1B4B-8893-40E6-9618-039993F6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4288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987EF-8555-47CE-845C-1A7E127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0,728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4174-E9F4-4F0F-B757-A2D98E87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ROC-AUC no holdout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D1317-D6B5-4090-BAD9-AE3B6BD7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24288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4ED3-0CBD-41D7-AB01-A1A54FF1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57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0,095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460CB-FE10-4662-990F-D461426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Brier Score calibrado</a:t>
            </a:r>
          </a:p>
        </p:txBody>
      </p:sp>
      <p:sp>
        <p:nvSpPr>
          <p:cNvPr id="14" name="footer-presenter">
            <a:extLst xmlns:a="http://schemas.openxmlformats.org/drawingml/2006/main">
              <a:ext uri="{FF2B5EF4-FFF2-40B4-BE49-F238E27FC236}">
                <a16:creationId xmlns:a16="http://schemas.microsoft.com/office/drawing/2014/main" id="{AE3B9527-9047-4DA8-99C2-831ADB51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51967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8C96A0"/>
                </a:solidFill>
                <a:latin typeface="Arial"/>
                <a:ea typeface="Arial"/>
                <a:cs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143400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0-model-title">
            <a:extLst xmlns:a="http://schemas.openxmlformats.org/drawingml/2006/main">
              <a:ext uri="{FF2B5EF4-FFF2-40B4-BE49-F238E27FC236}">
                <a16:creationId xmlns:a16="http://schemas.microsoft.com/office/drawing/2014/main" id="{6E372B81-3311-4F4D-9CFA-DD629793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score vira uma fila de revisão</a:t>
            </a:r>
          </a:p>
        </p:txBody>
      </p:sp>
      <p:sp>
        <p:nvSpPr>
          <p:cNvPr id="2" name="chart-slide-20-model-footer">
            <a:extLst xmlns:a="http://schemas.openxmlformats.org/drawingml/2006/main">
              <a:ext uri="{FF2B5EF4-FFF2-40B4-BE49-F238E27FC236}">
                <a16:creationId xmlns:a16="http://schemas.microsoft.com/office/drawing/2014/main" id="{6186B9A1-D013-42F6-AAC7-D041902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429250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a78f99e211499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12157-857A-4B29-A294-41407B6C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8587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E517F-4756-4225-8423-478E0257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Alvo acionável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8DDB-521B-440B-A8A2-11FFC2F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Default em até 90 dias.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C500F-AB4A-4797-92D9-863BB5C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AC3EC-52ED-4084-B1C5-78AC08C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 econômico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C5EBD-A051-4869-BB16-C134F27D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0,06 sob custos didáticos.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C392C-1C46-4314-8FA6-CF043548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2437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B45C0-12E9-4541-AE22-4E8A5044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prático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74672-6768-4774-8C8D-068D2C1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01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Acima do limite, revisão humana obrigatória.</a:t>
            </a:r>
          </a:p>
        </p:txBody>
      </p:sp>
      <p:sp>
        <p:nvSpPr>
          <p:cNvPr id="16" name="footer-presenter">
            <a:extLst xmlns:a="http://schemas.openxmlformats.org/drawingml/2006/main">
              <a:ext uri="{FF2B5EF4-FFF2-40B4-BE49-F238E27FC236}">
                <a16:creationId xmlns:a16="http://schemas.microsoft.com/office/drawing/2014/main" id="{A500073A-5E37-4C1C-829C-C0C6F192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51967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8C96A0"/>
                </a:solidFill>
                <a:latin typeface="Arial"/>
                <a:ea typeface="Arial"/>
                <a:cs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474095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meline-slide-17-title">
            <a:extLst xmlns:a="http://schemas.openxmlformats.org/drawingml/2006/main">
              <a:ext uri="{FF2B5EF4-FFF2-40B4-BE49-F238E27FC236}">
                <a16:creationId xmlns:a16="http://schemas.microsoft.com/office/drawing/2014/main" id="{845B4345-ADCF-45A2-9D4F-1D057DE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implantação combina API, piloto e aprendizado</a:t>
            </a:r>
          </a:p>
        </p:txBody>
      </p:sp>
      <p:sp>
        <p:nvSpPr>
          <p:cNvPr id="2" name="timeline-slide-17-footer">
            <a:extLst xmlns:a="http://schemas.openxmlformats.org/drawingml/2006/main">
              <a:ext uri="{FF2B5EF4-FFF2-40B4-BE49-F238E27FC236}">
                <a16:creationId xmlns:a16="http://schemas.microsoft.com/office/drawing/2014/main" id="{07405B7F-C4EA-401F-BE25-313430E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4D83C-53C8-4457-961B-8A8EAC8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A07C5-053B-418D-8B4A-D76DF702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3D5BD-1F22-4881-86C7-CA886FC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04F5A-EAC3-41A9-B334-9A47DCC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6076-D6AD-42C5-AD45-CA9A92C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Disponibilizar a API e registrar versão, score e latência.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0C3D5-320C-4A27-88E6-53A1F1D6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E414B-CEF8-4FAC-A7AE-BEACBE5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30-60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C5EBB-55DB-4024-BAD7-B4EA6E64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707C7-0A75-4422-A51F-BE05BA4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Rodar em shadow/canary com revisão humana e capacidade controlada.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6252B-5341-4C5F-9A52-6259315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D6FE4-D8B1-4FFC-A3BE-0297563C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90+ DIAS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4DF07-77C0-4808-9980-66CF43A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Aprender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87A7F-1DEB-48E5-85B2-A6433512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Medir default maturado, calibração, drift e custo real.</a:t>
            </a:r>
          </a:p>
        </p:txBody>
      </p:sp>
      <p:sp>
        <p:nvSpPr>
          <p:cNvPr id="16" name="footer-presenter">
            <a:extLst xmlns:a="http://schemas.openxmlformats.org/drawingml/2006/main">
              <a:ext uri="{FF2B5EF4-FFF2-40B4-BE49-F238E27FC236}">
                <a16:creationId xmlns:a16="http://schemas.microsoft.com/office/drawing/2014/main" id="{7EE525B1-8FE5-46AF-AFF4-EB04561C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51967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8C96A0"/>
                </a:solidFill>
                <a:latin typeface="Arial"/>
                <a:ea typeface="Arial"/>
                <a:cs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336656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ecklist-slide-10-title">
            <a:extLst xmlns:a="http://schemas.openxmlformats.org/drawingml/2006/main">
              <a:ext uri="{FF2B5EF4-FFF2-40B4-BE49-F238E27FC236}">
                <a16:creationId xmlns:a16="http://schemas.microsoft.com/office/drawing/2014/main" id="{0ED76FEE-1804-4A3B-A4E1-47AECA02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score apoia crédito; não substitui política e revisão</a:t>
            </a:r>
          </a:p>
        </p:txBody>
      </p:sp>
      <p:sp>
        <p:nvSpPr>
          <p:cNvPr id="2" name="checklist-slide-10-footer">
            <a:extLst xmlns:a="http://schemas.openxmlformats.org/drawingml/2006/main">
              <a:ext uri="{FF2B5EF4-FFF2-40B4-BE49-F238E27FC236}">
                <a16:creationId xmlns:a16="http://schemas.microsoft.com/office/drawing/2014/main" id="{9B356F35-2932-40C0-920A-4A318883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67ED2-0BF7-4615-B811-ECE50C06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Limites da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D79D9-E5EE-40B3-B05B-96062B99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23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base é sintética, não possui datas e usa custos ilustrativos. A definição operacional de default precisa ser ratificada por Risco antes da produção.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21DF8-A6CB-48A5-9ED9-CD2ED6F3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 piloto deve comparar perda esperada, aprovação, fila de revisão e impacto por grupo.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70EE6-1FBC-4FB3-BB4A-B4FA3EEF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35ADF-990E-402D-9340-A7E0865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Revisão humana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583DE-6059-4D3A-8530-6FBEE326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07CE4-13B2-4DD3-8906-B8609541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Validação temporal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DE0FC-5805-49B2-BCB4-760B020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B9331-2743-45F9-A207-417B7176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Monitoramento de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05573-B21F-4BCD-B116-AC11F843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CF379-E63C-4D51-ADB9-EE17FCD3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Calibração da PD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A003B-6A2B-4B1D-A1C7-30935356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F0857-1004-4918-878F-0FA1D79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LGPD e target versionado</a:t>
            </a:r>
          </a:p>
        </p:txBody>
      </p:sp>
      <p:sp>
        <p:nvSpPr>
          <p:cNvPr id="16" name="footer-presenter">
            <a:extLst xmlns:a="http://schemas.openxmlformats.org/drawingml/2006/main">
              <a:ext uri="{FF2B5EF4-FFF2-40B4-BE49-F238E27FC236}">
                <a16:creationId xmlns:a16="http://schemas.microsoft.com/office/drawing/2014/main" id="{9FB00AD1-D51C-42BE-8262-75D1553F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51967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8C96A0"/>
                </a:solidFill>
                <a:latin typeface="Arial"/>
                <a:ea typeface="Arial"/>
                <a:cs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25284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CC85A3AD-95FD-4567-8BA3-A648F82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RECOMENDAÇÃO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F7F4D7A-206D-402A-A8D0-3BD9B80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0096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Pilotar o score com revisão humana</a:t>
            </a:r>
          </a:p>
        </p:txBody>
      </p:sp>
      <p:sp>
        <p:nvSpPr>
          <p:cNvPr id="3" name="closing-priorities">
            <a:extLst xmlns:a="http://schemas.openxmlformats.org/drawingml/2006/main">
              <a:ext uri="{FF2B5EF4-FFF2-40B4-BE49-F238E27FC236}">
                <a16:creationId xmlns:a16="http://schemas.microsoft.com/office/drawing/2014/main" id="{1B5AA029-28E0-4073-BF27-27E3912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5715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eliminar variáveis do futuro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priorizar propostas pelo risco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medir resultado após 90 dias</a:t>
            </a:r>
          </a:p>
        </p:txBody>
      </p:sp>
      <p:sp>
        <p:nvSpPr>
          <p:cNvPr id="4" name="footer-presenter">
            <a:extLst xmlns:a="http://schemas.openxmlformats.org/drawingml/2006/main">
              <a:ext uri="{FF2B5EF4-FFF2-40B4-BE49-F238E27FC236}">
                <a16:creationId xmlns:a16="http://schemas.microsoft.com/office/drawing/2014/main" id="{55C218A1-9C0B-4F00-B84F-79BF724B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51967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8C96A0"/>
                </a:solidFill>
                <a:latin typeface="Arial"/>
                <a:ea typeface="Arial"/>
                <a:cs typeface="Arial"/>
              </a:rPr>
              <a:t>Fulvius Wolfgang Macedo • Grupo Individual</a:t>
            </a:r>
          </a:p>
        </p:txBody>
      </p:sp>
      <p:sp>
        <p:nvSpPr>
          <p:cNvPr id="5" name="closing-presenter-thanks">
            <a:extLst xmlns:a="http://schemas.openxmlformats.org/drawingml/2006/main">
              <a:ext uri="{FF2B5EF4-FFF2-40B4-BE49-F238E27FC236}">
                <a16:creationId xmlns:a16="http://schemas.microsoft.com/office/drawing/2014/main" id="{992DA47B-6A9E-42AC-BCF4-0FC341E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26480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1E2D"/>
                </a:solidFill>
                <a:latin typeface="Arial"/>
                <a:ea typeface="Arial"/>
                <a:cs typeface="Arial"/>
              </a:rPr>
              <a:t>Obrigado • Fulvius Wolfgang Macedo</a:t>
            </a:r>
          </a:p>
        </p:txBody>
      </p:sp>
    </p:spTree>
    <p:extLst>
      <p:ext uri="{BB962C8B-B14F-4D97-AF65-F5344CB8AC3E}">
        <p14:creationId xmlns:p14="http://schemas.microsoft.com/office/powerpoint/2010/main" val="2079624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2026-07-13T22:25:07.0890000Z</dcterms:created>
  <dcterms:modified xsi:type="dcterms:W3CDTF">2026-07-13T22:25:07.0890000Z</dcterms:modified>
</coreProperties>
</file>