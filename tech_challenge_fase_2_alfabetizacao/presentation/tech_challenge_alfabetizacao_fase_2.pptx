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95344b20a404f9f" /><Relationship Type="http://schemas.openxmlformats.org/officeDocument/2006/relationships/extended-properties" Target="/docProps/app.xml" Id="R0939d573eddb43a2" /><Relationship Type="http://schemas.openxmlformats.org/officeDocument/2006/relationships/officeDocument" Target="/ppt/presentation.xml" Id="Rb71b83743f0b46e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144378b8d2e4878"/>
  </p:sldMasterIdLst>
  <p:notesMasterIdLst>
    <p:notesMasterId xmlns:r="http://schemas.openxmlformats.org/officeDocument/2006/relationships" r:id="R45a3b0d2cd1e490f"/>
  </p:notesMasterIdLst>
  <p:sldIdLst>
    <p:sldId xmlns:r="http://schemas.openxmlformats.org/officeDocument/2006/relationships" id="256" r:id="R8c0ebf850dae451e"/>
    <p:sldId xmlns:r="http://schemas.openxmlformats.org/officeDocument/2006/relationships" id="257" r:id="R586ce65b433d4cdd"/>
    <p:sldId xmlns:r="http://schemas.openxmlformats.org/officeDocument/2006/relationships" id="258" r:id="Rb2fb389a3da74744"/>
    <p:sldId xmlns:r="http://schemas.openxmlformats.org/officeDocument/2006/relationships" id="259" r:id="R6bfc6f0472cc45de"/>
    <p:sldId xmlns:r="http://schemas.openxmlformats.org/officeDocument/2006/relationships" id="260" r:id="Rbdec4ae408b54294"/>
    <p:sldId xmlns:r="http://schemas.openxmlformats.org/officeDocument/2006/relationships" id="261" r:id="R6cc0230ce98e4f08"/>
    <p:sldId xmlns:r="http://schemas.openxmlformats.org/officeDocument/2006/relationships" id="262" r:id="Rb8e8544c7bba4e99"/>
    <p:sldId xmlns:r="http://schemas.openxmlformats.org/officeDocument/2006/relationships" id="263" r:id="R7295f5a3570e4f99"/>
    <p:sldId xmlns:r="http://schemas.openxmlformats.org/officeDocument/2006/relationships" id="264" r:id="R26a242f12e874de4"/>
    <p:sldId xmlns:r="http://schemas.openxmlformats.org/officeDocument/2006/relationships" id="265" r:id="Re6d9e0ebf32e495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5f00fb1dacc4162" /><Relationship Type="http://schemas.openxmlformats.org/officeDocument/2006/relationships/slideMaster" Target="/ppt/slideMasters/slideMaster1.xml" Id="R7144378b8d2e4878" /><Relationship Type="http://schemas.openxmlformats.org/officeDocument/2006/relationships/notesMaster" Target="/ppt/notesMasters/notesMaster1.xml" Id="R45a3b0d2cd1e490f" /><Relationship Type="http://schemas.openxmlformats.org/officeDocument/2006/relationships/presProps" Target="/ppt/presProps.xml" Id="R06d4af9dff1446f1" /><Relationship Type="http://schemas.openxmlformats.org/officeDocument/2006/relationships/tableStyles" Target="/ppt/tableStyles.xml" Id="Rec7ec02a882548ce" /><Relationship Type="http://schemas.openxmlformats.org/officeDocument/2006/relationships/slide" Target="/ppt/slides/slide1.xml" Id="R8c0ebf850dae451e" /><Relationship Type="http://schemas.openxmlformats.org/officeDocument/2006/relationships/slide" Target="/ppt/slides/slide2.xml" Id="R586ce65b433d4cdd" /><Relationship Type="http://schemas.openxmlformats.org/officeDocument/2006/relationships/slide" Target="/ppt/slides/slide3.xml" Id="Rb2fb389a3da74744" /><Relationship Type="http://schemas.openxmlformats.org/officeDocument/2006/relationships/slide" Target="/ppt/slides/slide4.xml" Id="R6bfc6f0472cc45de" /><Relationship Type="http://schemas.openxmlformats.org/officeDocument/2006/relationships/slide" Target="/ppt/slides/slide5.xml" Id="Rbdec4ae408b54294" /><Relationship Type="http://schemas.openxmlformats.org/officeDocument/2006/relationships/slide" Target="/ppt/slides/slide6.xml" Id="R6cc0230ce98e4f08" /><Relationship Type="http://schemas.openxmlformats.org/officeDocument/2006/relationships/slide" Target="/ppt/slides/slide7.xml" Id="Rb8e8544c7bba4e99" /><Relationship Type="http://schemas.openxmlformats.org/officeDocument/2006/relationships/slide" Target="/ppt/slides/slide8.xml" Id="R7295f5a3570e4f99" /><Relationship Type="http://schemas.openxmlformats.org/officeDocument/2006/relationships/slide" Target="/ppt/slides/slide9.xml" Id="R26a242f12e874de4" /><Relationship Type="http://schemas.openxmlformats.org/officeDocument/2006/relationships/slide" Target="/ppt/slides/slide10.xml" Id="Re6d9e0ebf32e495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ba8c922c8f5448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ffb31ad97504e9a" /><Relationship Type="http://schemas.openxmlformats.org/officeDocument/2006/relationships/notesMaster" Target="/ppt/notesMasters/notesMaster1.xml" Id="Rad8969819e8a437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cf406ceb01b4df7" /><Relationship Type="http://schemas.openxmlformats.org/officeDocument/2006/relationships/notesMaster" Target="/ppt/notesMasters/notesMaster1.xml" Id="Rb2042de03a7d47e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66a650c16814d6c" /><Relationship Type="http://schemas.openxmlformats.org/officeDocument/2006/relationships/notesMaster" Target="/ppt/notesMasters/notesMaster1.xml" Id="R3d62d6e92f7d4e1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4f2026e8f9141a2" /><Relationship Type="http://schemas.openxmlformats.org/officeDocument/2006/relationships/notesMaster" Target="/ppt/notesMasters/notesMaster1.xml" Id="R90855722bb124a7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2a4c406e7064002" /><Relationship Type="http://schemas.openxmlformats.org/officeDocument/2006/relationships/notesMaster" Target="/ppt/notesMasters/notesMaster1.xml" Id="Rf52a5c395459470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f9f4d2c6aae4843" /><Relationship Type="http://schemas.openxmlformats.org/officeDocument/2006/relationships/notesMaster" Target="/ppt/notesMasters/notesMaster1.xml" Id="R2fa06219aec446c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856929e71454af2" /><Relationship Type="http://schemas.openxmlformats.org/officeDocument/2006/relationships/notesMaster" Target="/ppt/notesMasters/notesMaster1.xml" Id="Re86a557aa06d4d1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231e00fc09c46d0" /><Relationship Type="http://schemas.openxmlformats.org/officeDocument/2006/relationships/notesMaster" Target="/ppt/notesMasters/notesMaster1.xml" Id="R88d16cc3669b41b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53de67d387242d5" /><Relationship Type="http://schemas.openxmlformats.org/officeDocument/2006/relationships/notesMaster" Target="/ppt/notesMasters/notesMaster1.xml" Id="Rc332a1350209431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4332bc19a274f39" /><Relationship Type="http://schemas.openxmlformats.org/officeDocument/2006/relationships/notesMaster" Target="/ppt/notesMasters/notesMaster1.xml" Id="R9bc65fc6e49e485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Olá, eu sou Fulvius Wolfgang Macedo. Neste projeto, construí uma pipeline para integrar resultados e metas de alfabetização no Brasil. O objetivo é oferecer uma base confiável para acompanhar o desempenho educacional. A solução combina batch e streaming simulado, com execução real no Google Cloud e sem ativar faturamento.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REFERÊNCIAS DE APOIO</a:t>
            </a:r>
          </a:p>
          <a:p xmlns:a="http://schemas.openxmlformats.org/drawingml/2006/main">
            <a:r>
              <a:t>README.md</a:t>
            </a:r>
          </a:p>
          <a:p xmlns:a="http://schemas.openxmlformats.org/drawingml/2006/main">
            <a:r>
              <a:t>referencias/enunciado_fase_2.pdf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Comecei investigando sete tabelas oficiais da Base dos Dados, incluindo o dicionário e quase três vírgula nove milhões de registros de alunos. Comparei resultados de dois mil e vinte e quatro com metas da mesma rede. Separei a meta pactuada de oitenta para dois mil e trinta da aspiração de universalização. Na conferência dos microdados, considerei avaliações elegíveis e pesos amostrais.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REFERÊNCIAS DE APOIO</a:t>
            </a:r>
          </a:p>
          <a:p xmlns:a="http://schemas.openxmlformats.org/drawingml/2006/main">
            <a:r>
              <a:t>docs/05_decisoes_redes_territorio_fontes.md</a:t>
            </a:r>
          </a:p>
          <a:p xmlns:a="http://schemas.openxmlformats.org/drawingml/2006/main">
            <a:r>
              <a:t>docs/06_elegibilidade_pesos_recalculo.md</a:t>
            </a:r>
          </a:p>
          <a:p xmlns:a="http://schemas.openxmlformats.org/drawingml/2006/main">
            <a:r>
              <a:t>evidencias/validacoes_batch_google_cloud.json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Entre os cinco mil quatrocentos e quarenta e oito municípios, dois mil setecentos e oitenta e oito atingiram a meta, e dois mil quatrocentos e quarenta e quatro não atingiram. Duzentos e dezesseis ficaram sem comparação. Conferi essas ausências nos originais do Inep: noventa e seis não têm registro de meta e cento e vinte têm a meta vazia.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REFERÊNCIAS DE APOIO</a:t>
            </a:r>
          </a:p>
          <a:p xmlns:a="http://schemas.openxmlformats.org/drawingml/2006/main">
            <a:r>
              <a:t>evidencias/reprodutibilidade_clone_limpo.json</a:t>
            </a:r>
          </a:p>
          <a:p xmlns:a="http://schemas.openxmlformats.org/drawingml/2006/main">
            <a:r>
              <a:t>evidencias/metricas_juncao_2024.json</a:t>
            </a:r>
          </a:p>
          <a:p xmlns:a="http://schemas.openxmlformats.org/drawingml/2006/main">
            <a:r>
              <a:t>docs/02_investigacao_metas_2024.md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Depois, implementei a arquitetura Medalhão. A Bronze guarda a extração e seus metadados. A Silver padroniza tipos, valida chaves e organiza metas anuais. A Gold entrega comparações municipais, estaduais e nacionais, além da conferência ponderada dos alunos. O Cloud Shell processa os dados e o BigQuery recebe as tabelas. Cada execução preserva uma versão do histórico.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REFERÊNCIAS DE APOIO</a:t>
            </a:r>
          </a:p>
          <a:p xmlns:a="http://schemas.openxmlformats.org/drawingml/2006/main">
            <a:r>
              <a:t>src/ingest.py</a:t>
            </a:r>
          </a:p>
          <a:p xmlns:a="http://schemas.openxmlformats.org/drawingml/2006/main">
            <a:r>
              <a:t>src/batch.py</a:t>
            </a:r>
          </a:p>
          <a:p xmlns:a="http://schemas.openxmlformats.org/drawingml/2006/main">
            <a:r>
              <a:t>src/cloud_batch.py</a:t>
            </a:r>
          </a:p>
          <a:p xmlns:a="http://schemas.openxmlformats.org/drawingml/2006/main">
            <a:r>
              <a:t>evidencias/reprodutibilidade_clone_limpo.json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qualidade inclui regras bloqueantes e informativas. A versão revisada executa cento e dezesseis verificações e registra doze métricas de junção. As exceções são reconhecidas pelas chaves. Provoquei uma falha para comprovar o bloqueio: a execução terminou com erro e manteve a versão válida anterior. Os resultados oficiais continuam como referência quando o recálculo dos alunos diverge.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REFERÊNCIAS DE APOIO</a:t>
            </a:r>
          </a:p>
          <a:p xmlns:a="http://schemas.openxmlformats.org/drawingml/2006/main">
            <a:r>
              <a:t>src/quality.py</a:t>
            </a:r>
          </a:p>
          <a:p xmlns:a="http://schemas.openxmlformats.org/drawingml/2006/main">
            <a:r>
              <a:t>src/batch.py</a:t>
            </a:r>
          </a:p>
          <a:p xmlns:a="http://schemas.openxmlformats.org/drawingml/2006/main">
            <a:r>
              <a:t>evidencias/reprodutibilidade_clone_limpo.json</a:t>
            </a:r>
          </a:p>
          <a:p xmlns:a="http://schemas.openxmlformats.org/drawingml/2006/main">
            <a:r>
              <a:t>docs/07_catalogo_qualidade.md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 streaming, eventos chegam por HTTP a uma fila durável. O consumidor processa apenas os novos recebimentos, em microlotes. Foram dezessete envios de teste: seis eventos únicos válidos, dois duplicados e nove inválidos propositais em quarentena. Também testei chegada fora de ordem e reinício após falha. Todos os eventos têm destino registrado, com origem simulada identificada e resultados oficiais preservados.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REFERÊNCIAS DE APOIO</a:t>
            </a:r>
          </a:p>
          <a:p xmlns:a="http://schemas.openxmlformats.org/drawingml/2006/main">
            <a:r>
              <a:t>src/streaming.py</a:t>
            </a:r>
          </a:p>
          <a:p xmlns:a="http://schemas.openxmlformats.org/drawingml/2006/main">
            <a:r>
              <a:t>src/stream_demo.py</a:t>
            </a:r>
          </a:p>
          <a:p xmlns:a="http://schemas.openxmlformats.org/drawingml/2006/main">
            <a:r>
              <a:t>evidencias/execucao_streaming_google_cloud.json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solução executou na GCP, com identificadores dos jobs e contagens conciliadas. O BigQuery recebe checkpoints por cargas gratuitas, respeitando a limitação de inserção streaming do ambiente. A observabilidade registra duração, volumes e latências. Nas falhas controladas, o ntfy aceitou os avisos em cerca de quinze e dezenove centésimos de segundo após a detecção. Confirmei os dois recebimentos.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REFERÊNCIAS DE APOIO</a:t>
            </a:r>
          </a:p>
          <a:p xmlns:a="http://schemas.openxmlformats.org/drawingml/2006/main">
            <a:r>
              <a:t>evidencias/alertas_google_cloud.json</a:t>
            </a:r>
          </a:p>
          <a:p xmlns:a="http://schemas.openxmlformats.org/drawingml/2006/main">
            <a:r>
              <a:t>evidencias/reprodutibilidade_clone_limpo.json</a:t>
            </a:r>
          </a:p>
          <a:p xmlns:a="http://schemas.openxmlformats.org/drawingml/2006/main">
            <a:r>
              <a:t>evidencias/execucao_streaming_google_cloud.json</a:t>
            </a:r>
          </a:p>
          <a:p xmlns:a="http://schemas.openxmlformats.org/drawingml/2006/main">
            <a:r>
              <a:t>https://docs.cloud.google.com/bigquery/docs/sandbox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FinOps é controlar uso e custos da infraestrutura. O ambiente acadêmico permanece com custo zero e faturamento desativado. Medi execução, armazenamento e backups. Projetei uma operação mensal equivalente em produção, com um batch e uma demonstração finita de streaming. A estimativa é de quarenta e quatro centavos de dólar por mês, antes de franquias. Nenhum recurso pago foi criado.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REFERÊNCIAS DE APOIO</a:t>
            </a:r>
          </a:p>
          <a:p xmlns:a="http://schemas.openxmlformats.org/drawingml/2006/main">
            <a:r>
              <a:t>evidencias/finops_medicoes.json</a:t>
            </a:r>
          </a:p>
          <a:p xmlns:a="http://schemas.openxmlformats.org/drawingml/2006/main">
            <a:r>
              <a:t>https://cloud.google.com/products/compute/pricing/general-purpose?hl=en</a:t>
            </a:r>
          </a:p>
          <a:p xmlns:a="http://schemas.openxmlformats.org/drawingml/2006/main">
            <a:r>
              <a:t>https://cloud.google.com/bigquery/pricing</a:t>
            </a:r>
          </a:p>
          <a:p xmlns:a="http://schemas.openxmlformats.org/drawingml/2006/main">
            <a:r>
              <a:t>https://cloud.google.com/compute/disks-image-pricing</a:t>
            </a:r>
          </a:p>
          <a:p xmlns:a="http://schemas.openxmlformats.org/drawingml/2006/main">
            <a:r>
              <a:t>https://cloud.google.com/vpc/pricing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 revisão final, testei um clone da versão candidata sem dados baixados nem ambiente Python anterior. A autenticação Google foi o pré-requisito externo. As dependências não apresentaram conflitos, os vinte e cinco testes passaram e a execução publicou vinte e seis tabelas. A falha bloqueante preservou as versões válidas. O relatório registra os comandos e os resultados.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REFERÊNCIAS DE APOIO</a:t>
            </a:r>
          </a:p>
          <a:p xmlns:a="http://schemas.openxmlformats.org/drawingml/2006/main">
            <a:r>
              <a:t>evidencias/reprodutibilidade_clone_limpo.json</a:t>
            </a:r>
          </a:p>
          <a:p xmlns:a="http://schemas.openxmlformats.org/drawingml/2006/main">
            <a:r>
              <a:t>tests/test_quality.py</a:t>
            </a:r>
          </a:p>
          <a:p xmlns:a="http://schemas.openxmlformats.org/drawingml/2006/main">
            <a:r>
              <a:t>tests/test_streaming.py</a:t>
            </a:r>
          </a:p>
          <a:p xmlns:a="http://schemas.openxmlformats.org/drawingml/2006/main">
            <a:r>
              <a:t>tests/test_alerts.py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entrega é uma base analítica com origem, cobertura e limitações identificadas. Ela apoia o acompanhamento de metas e a análise de desigualdades. Para modelos futuros, usarei informações anteriores ao resultado previsto e excluirei colunas que revelem o alvo. A série curta não sustenta previsão robusta até dois mil e trinta. A engenharia está validada e a Gold preservada para a fase três. Obrigado.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REFERÊNCIAS DE APOIO</a:t>
            </a:r>
          </a:p>
          <a:p xmlns:a="http://schemas.openxmlformats.org/drawingml/2006/main">
            <a:r>
              <a:t>README.md</a:t>
            </a:r>
          </a:p>
          <a:p xmlns:a="http://schemas.openxmlformats.org/drawingml/2006/main">
            <a:r>
              <a:t>docs/06_elegibilidade_pesos_recalculo.md</a:t>
            </a:r>
          </a:p>
          <a:p xmlns:a="http://schemas.openxmlformats.org/drawingml/2006/main">
            <a:r>
              <a:t>referencias/enunciado_fase_2.pdf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790727c98543c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29bf1066be408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f454cdc9394e8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256eea9c084e9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950acfe87c45c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b1f589438a4bd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585370D-32DF-43FC-891E-AC38A8F41B3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C4EB5E3-2C9C-4DC1-A9C1-C75ABFEEF0E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EA1E186-4C66-4975-9E45-F7ADF97BE2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5625875-A13F-435B-8D23-E859982F44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2C4A841-AEB2-46AB-93C9-BA50615FEBB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BF38FF5-2D2C-4ED4-9FFA-25E923978C0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27782E2-01D3-4408-85D8-C42BE8E928D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75C169D-6A4C-4452-AD54-2A214016D2B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600A0E6-179B-4FB7-B11E-48FC6BFCA5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29E05B0-B417-4908-942E-76C3327F011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622f260152e4e04" /><Relationship Type="http://schemas.openxmlformats.org/officeDocument/2006/relationships/slideLayout" Target="/ppt/slideLayouts/slideLayout1.xml" Id="R0e84e88513df4ebf" /><Relationship Type="http://schemas.openxmlformats.org/officeDocument/2006/relationships/slideLayout" Target="/ppt/slideLayouts/slideLayout2.xml" Id="Rd09592be41c2405c" /><Relationship Type="http://schemas.openxmlformats.org/officeDocument/2006/relationships/slideLayout" Target="/ppt/slideLayouts/slideLayout3.xml" Id="Rce43d75da452494f" /><Relationship Type="http://schemas.openxmlformats.org/officeDocument/2006/relationships/slideLayout" Target="/ppt/slideLayouts/slideLayout4.xml" Id="R5b80a20fe2bb4c3f" /><Relationship Type="http://schemas.openxmlformats.org/officeDocument/2006/relationships/slideLayout" Target="/ppt/slideLayouts/slideLayout5.xml" Id="R4a00f7f396264c1a" /><Relationship Type="http://schemas.openxmlformats.org/officeDocument/2006/relationships/slideLayout" Target="/ppt/slideLayouts/slideLayout6.xml" Id="R906af02975d4454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e84e88513df4ebf"/>
    <p:sldLayoutId xmlns:r="http://schemas.openxmlformats.org/officeDocument/2006/relationships" id="2147483650" r:id="Rd09592be41c2405c"/>
    <p:sldLayoutId xmlns:r="http://schemas.openxmlformats.org/officeDocument/2006/relationships" id="2147483651" r:id="Rce43d75da452494f"/>
    <p:sldLayoutId xmlns:r="http://schemas.openxmlformats.org/officeDocument/2006/relationships" id="2147483652" r:id="R5b80a20fe2bb4c3f"/>
    <p:sldLayoutId xmlns:r="http://schemas.openxmlformats.org/officeDocument/2006/relationships" id="2147483653" r:id="R4a00f7f396264c1a"/>
    <p:sldLayoutId xmlns:r="http://schemas.openxmlformats.org/officeDocument/2006/relationships" id="2147483654" r:id="R906af02975d4454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727cf39eed4fb9" /><Relationship Type="http://schemas.openxmlformats.org/officeDocument/2006/relationships/notesSlide" Target="/ppt/notesSlides/notesSlide1.xml" Id="R396d3c50e32c4cd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c5a72dbad74e4e" /><Relationship Type="http://schemas.openxmlformats.org/officeDocument/2006/relationships/notesSlide" Target="/ppt/notesSlides/notesSlide2.xml" Id="R013daaf8642d490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fa4121bf24449d" /><Relationship Type="http://schemas.openxmlformats.org/officeDocument/2006/relationships/chart" Target="/ppt/slides/charts/chart1.xml" Id="R9af388f16b2e4693" /><Relationship Type="http://schemas.openxmlformats.org/officeDocument/2006/relationships/notesSlide" Target="/ppt/notesSlides/notesSlide3.xml" Id="Rf171a4a5eb124b2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3b0b9dd3ef4ac2" /><Relationship Type="http://schemas.openxmlformats.org/officeDocument/2006/relationships/notesSlide" Target="/ppt/notesSlides/notesSlide4.xml" Id="Rfe85c88e97ac4eb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05a256d34b42cf" /><Relationship Type="http://schemas.openxmlformats.org/officeDocument/2006/relationships/notesSlide" Target="/ppt/notesSlides/notesSlide5.xml" Id="R10164a2aaa37436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6ddcbf4f2b4e3b" /><Relationship Type="http://schemas.openxmlformats.org/officeDocument/2006/relationships/chart" Target="/ppt/slides/charts/chart2.xml" Id="Rfba35803b2ae43e0" /><Relationship Type="http://schemas.openxmlformats.org/officeDocument/2006/relationships/notesSlide" Target="/ppt/notesSlides/notesSlide6.xml" Id="R647c3264c9a540a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1c76af86b749cd" /><Relationship Type="http://schemas.openxmlformats.org/officeDocument/2006/relationships/notesSlide" Target="/ppt/notesSlides/notesSlide7.xml" Id="R082b43df3a80443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6db0fcb0614721" /><Relationship Type="http://schemas.openxmlformats.org/officeDocument/2006/relationships/notesSlide" Target="/ppt/notesSlides/notesSlide8.xml" Id="R32ba174b1175405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0e4ec8607d4868" /><Relationship Type="http://schemas.openxmlformats.org/officeDocument/2006/relationships/notesSlide" Target="/ppt/notesSlides/notesSlide9.xml" Id="R3251d7b8bcdf403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4b459030374222" /><Relationship Type="http://schemas.openxmlformats.org/officeDocument/2006/relationships/notesSlide" Target="/ppt/notesSlides/notesSlide10.xml" Id="R7073d618df494cc3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Municípios</c:v>
          </c:tx>
          <c:spPr>
            <a:solidFill xmlns:a="http://schemas.openxmlformats.org/drawingml/2006/main">
              <a:srgbClr val="087F80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087F80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102F40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ACBBC1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CCD6DA"/>
              </a:solidFill>
            </c:spPr>
          </c:dPt>
          <c:cat>
            <c:strRef>
              <c:f>'Chart Data'!$A$2:$A$5</c:f>
              <c:strCache>
                <c:ptCount val="4"/>
                <c:pt idx="0">
                  <c:v>Atingiram</c:v>
                </c:pt>
                <c:pt idx="1">
                  <c:v>Não atingiram</c:v>
                </c:pt>
                <c:pt idx="2">
                  <c:v>Meta vazia</c:v>
                </c:pt>
                <c:pt idx="3">
                  <c:v>Sem registro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2788</c:v>
                </c:pt>
                <c:pt idx="1">
                  <c:v>2444</c:v>
                </c:pt>
                <c:pt idx="2">
                  <c:v>120</c:v>
                </c:pt>
                <c:pt idx="3">
                  <c:v>96</c:v>
                </c:pt>
              </c:numCache>
            </c:numRef>
          </c:val>
        </c:ser>
        <c:dLbls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950" b="1">
                  <a:solidFill>
                    <a:srgbClr val="18384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E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536B77"/>
                    </a:solidFill>
                  </a:rPr>
                  <a:t>Municípios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536B77"/>
                  </a:solidFill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36B77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3847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Envios</c:v>
          </c:tx>
          <c:spPr>
            <a:solidFill xmlns:a="http://schemas.openxmlformats.org/drawingml/2006/main">
              <a:srgbClr val="087F80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087F80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102F40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ACBBC1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Válidos únicos</c:v>
                </c:pt>
                <c:pt idx="1">
                  <c:v>Duplicados</c:v>
                </c:pt>
                <c:pt idx="2">
                  <c:v>Quarentena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6</c:v>
                </c:pt>
                <c:pt idx="1">
                  <c:v>2</c:v>
                </c:pt>
                <c:pt idx="2">
                  <c:v>9</c:v>
                </c:pt>
              </c:numCache>
            </c:numRef>
          </c:val>
        </c:ser>
        <c:dLbls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950" b="1">
                  <a:solidFill>
                    <a:srgbClr val="18384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E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536B77"/>
                    </a:solidFill>
                  </a:rPr>
                  <a:t>Envios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536B77"/>
                  </a:solidFill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36B77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3847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F4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-0">
            <a:extLst xmlns:a="http://schemas.openxmlformats.org/drawingml/2006/main">
              <a:ext uri="{FF2B5EF4-FFF2-40B4-BE49-F238E27FC236}">
                <a16:creationId xmlns:a16="http://schemas.microsoft.com/office/drawing/2014/main" id="{6B5BACF2-A091-485C-8FD0-5937E23D9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Alfabetização no Brasil</a:t>
            </a:r>
          </a:p>
        </p:txBody>
      </p:sp>
      <p:sp>
        <p:nvSpPr>
          <p:cNvPr id="3" name="page-0">
            <a:extLst xmlns:a="http://schemas.openxmlformats.org/drawingml/2006/main">
              <a:ext uri="{FF2B5EF4-FFF2-40B4-BE49-F238E27FC236}">
                <a16:creationId xmlns:a16="http://schemas.microsoft.com/office/drawing/2014/main" id="{5B384F11-6F5A-4316-8459-4B2E273BF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ABC5CB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ABC5CB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ABC5CB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ABC5CB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ABC5CB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ABC5CB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ABC5CB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ABC5CB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ABC5CB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ABC5C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ABC5C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BC5C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course">
            <a:extLst xmlns:a="http://schemas.openxmlformats.org/drawingml/2006/main">
              <a:ext uri="{FF2B5EF4-FFF2-40B4-BE49-F238E27FC236}">
                <a16:creationId xmlns:a16="http://schemas.microsoft.com/office/drawing/2014/main" id="{2DE5976F-D62F-43C9-91F9-254886401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0485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9DD6D0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9DD6D0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9DD6D0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9DD6D0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9DD6D0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9DD6D0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9DD6D0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9DD6D0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9DD6D0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9DD6D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9DD6D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9DD6D0"/>
                </a:solidFill>
                <a:latin typeface="Arial"/>
                <a:ea typeface="Arial"/>
                <a:cs typeface="Arial"/>
              </a:rPr>
              <a:t>TECH CHALLENGE FASE 2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C80B5C15-61BC-4160-B674-637A88419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19450"/>
            <a:ext cx="9525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7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7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7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7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7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7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7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7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7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Pipeline híbrida para integrar resultados e metas educacionais</a:t>
            </a:r>
          </a:p>
        </p:txBody>
      </p:sp>
      <p:sp>
        <p:nvSpPr>
          <p:cNvPr id="6" name="author">
            <a:extLst xmlns:a="http://schemas.openxmlformats.org/drawingml/2006/main">
              <a:ext uri="{FF2B5EF4-FFF2-40B4-BE49-F238E27FC236}">
                <a16:creationId xmlns:a16="http://schemas.microsoft.com/office/drawing/2014/main" id="{E7752CC4-E58C-4D5F-B2DE-FF8A3B160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43550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D3E1E5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D3E1E5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D3E1E5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D3E1E5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D3E1E5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D3E1E5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D3E1E5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D3E1E5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D3E1E5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D3E1E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D3E1E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D3E1E5"/>
                </a:solidFill>
                <a:latin typeface="Arial"/>
                <a:ea typeface="Arial"/>
                <a:cs typeface="Arial"/>
              </a:rPr>
              <a:t>Fulvius Wolfgang Macedo</a:t>
            </a:r>
          </a:p>
        </p:txBody>
      </p:sp>
    </p:spTree>
    <p:extLst>
      <p:ext uri="{BB962C8B-B14F-4D97-AF65-F5344CB8AC3E}">
        <p14:creationId xmlns:p14="http://schemas.microsoft.com/office/powerpoint/2010/main" val="1317898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-1">
            <a:extLst xmlns:a="http://schemas.openxmlformats.org/drawingml/2006/main">
              <a:ext uri="{FF2B5EF4-FFF2-40B4-BE49-F238E27FC236}">
                <a16:creationId xmlns:a16="http://schemas.microsoft.com/office/drawing/2014/main" id="{6E7619F3-A671-49CC-A03E-39E74651A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F40"/>
                </a:solidFill>
                <a:latin typeface="Arial"/>
                <a:ea typeface="Arial"/>
                <a:cs typeface="Arial"/>
              </a:rPr>
              <a:t>Fontes e recortes compatíveis</a:t>
            </a:r>
          </a:p>
        </p:txBody>
      </p:sp>
      <p:sp>
        <p:nvSpPr>
          <p:cNvPr id="3" name="page-1">
            <a:extLst xmlns:a="http://schemas.openxmlformats.org/drawingml/2006/main">
              <a:ext uri="{FF2B5EF4-FFF2-40B4-BE49-F238E27FC236}">
                <a16:creationId xmlns:a16="http://schemas.microsoft.com/office/drawing/2014/main" id="{0F040D29-6967-4908-B7EA-759E048F2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B7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n-students">
            <a:extLst xmlns:a="http://schemas.openxmlformats.org/drawingml/2006/main">
              <a:ext uri="{FF2B5EF4-FFF2-40B4-BE49-F238E27FC236}">
                <a16:creationId xmlns:a16="http://schemas.microsoft.com/office/drawing/2014/main" id="{2DC8E5C7-8135-410E-AEAF-57C0B77AB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47875"/>
            <a:ext cx="6000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615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defPPr>
            <a:lvl1pPr>
              <a:defRPr sz="615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1pPr>
            <a:lvl2pPr>
              <a:defRPr sz="615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2pPr>
            <a:lvl3pPr>
              <a:defRPr sz="615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3pPr>
            <a:lvl4pPr>
              <a:defRPr sz="615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4pPr>
            <a:lvl5pPr>
              <a:defRPr sz="615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5pPr>
            <a:lvl6pPr>
              <a:defRPr sz="615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6pPr>
            <a:lvl7pPr>
              <a:defRPr sz="615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7pPr>
            <a:lvl8pPr>
              <a:defRPr sz="615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8pPr>
            <a:lvl9pPr>
              <a:defRPr sz="615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615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pPr>
            <a:r>
              <a:rPr sz="6150" b="1">
                <a:solidFill>
                  <a:srgbClr val="087F80"/>
                </a:solidFill>
                <a:latin typeface="Arial"/>
                <a:ea typeface="Arial"/>
                <a:cs typeface="Arial"/>
              </a:rPr>
              <a:t>3.867.999</a:t>
            </a:r>
          </a:p>
        </p:txBody>
      </p:sp>
      <p:sp>
        <p:nvSpPr>
          <p:cNvPr id="5" name="students-label">
            <a:extLst xmlns:a="http://schemas.openxmlformats.org/drawingml/2006/main">
              <a:ext uri="{FF2B5EF4-FFF2-40B4-BE49-F238E27FC236}">
                <a16:creationId xmlns:a16="http://schemas.microsoft.com/office/drawing/2014/main" id="{6BA33CBB-527A-4707-B075-B716FB2CA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05150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83847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83847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83847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83847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83847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83847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83847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83847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83847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838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384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847"/>
                </a:solidFill>
                <a:latin typeface="Arial"/>
                <a:ea typeface="Arial"/>
                <a:cs typeface="Arial"/>
              </a:rPr>
              <a:t>registros de alunos na extração</a:t>
            </a:r>
          </a:p>
        </p:txBody>
      </p:sp>
      <p:sp>
        <p:nvSpPr>
          <p:cNvPr id="6" name="sources-label">
            <a:extLst xmlns:a="http://schemas.openxmlformats.org/drawingml/2006/main">
              <a:ext uri="{FF2B5EF4-FFF2-40B4-BE49-F238E27FC236}">
                <a16:creationId xmlns:a16="http://schemas.microsoft.com/office/drawing/2014/main" id="{2B61F625-67DC-4D21-9A03-22A7E4BB5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48100"/>
            <a:ext cx="609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36B77"/>
                </a:solidFill>
                <a:latin typeface="Arial"/>
                <a:ea typeface="Arial"/>
                <a:cs typeface="Arial"/>
              </a:rPr>
              <a:t>Sete tabelas oficiais</a:t>
            </a:r>
          </a:p>
          <a:p xmlns:a="http://schemas.openxmlformats.org/drawingml/2006/main">
            <a:pPr>
              <a:defRPr sz="225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36B77"/>
                </a:solidFill>
                <a:latin typeface="Arial"/>
                <a:ea typeface="Arial"/>
                <a:cs typeface="Arial"/>
              </a:rPr>
              <a:t>Histórico de 2023 e 2024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A9F0CB-A962-45B4-9F05-C5AAE28E8F50}"/>
              </a:ext>
            </a:extLst>
          </p:cNvPr>
          <p:cNvGraphicFramePr/>
          <p:nvPr/>
        </p:nvGraphicFramePr>
        <p:xfrm>
          <a:off xmlns:a="http://schemas.openxmlformats.org/drawingml/2006/main" x="7181850" y="1952625"/>
          <a:ext xmlns:a="http://schemas.openxmlformats.org/drawingml/2006/main" cx="4324350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76400"/>
                <a:gridCol w="2647950"/>
              </a:tblGrid>
              <a:tr h="762000">
                <a:tc>
                  <a:txBody>
                    <a:bodyPr lIns="133350" tIns="133350" rIns="114300" bIns="9525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Objeto</a:t>
                      </a:r>
                    </a:p>
                  </a:txBody>
                  <a:tcPr marL="91440" marR="91440" marT="45720" marB="45720" anchor="ctr">
                    <a:lnL w="0">
                      <a:solidFill>
                        <a:srgbClr val="FFFFFF"/>
                      </a:solidFill>
                      <a:prstDash val="solid"/>
                    </a:lnL>
                    <a:lnR w="0">
                      <a:solidFill>
                        <a:srgbClr val="FFFFFF"/>
                      </a:solidFill>
                      <a:prstDash val="solid"/>
                    </a:lnR>
                    <a:lnT w="0">
                      <a:solidFill>
                        <a:srgbClr val="FFFFFF"/>
                      </a:solidFill>
                      <a:prstDash val="solid"/>
                    </a:lnT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102F40"/>
                    </a:solidFill>
                  </a:tcPr>
                </a:tc>
                <a:tc>
                  <a:txBody>
                    <a:bodyPr lIns="133350" tIns="133350" rIns="114300" bIns="9525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Referência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  <a:prstDash val="solid"/>
                    </a:lnR>
                    <a:lnT w="0">
                      <a:solidFill>
                        <a:srgbClr val="FFFFFF"/>
                      </a:solidFill>
                      <a:prstDash val="solid"/>
                    </a:lnT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102F40"/>
                    </a:solidFill>
                  </a:tcPr>
                </a:tc>
              </a:tr>
              <a:tr h="762000">
                <a:tc>
                  <a:txBody>
                    <a:bodyPr lIns="133350" tIns="133350" rIns="114300" bIns="95250"/>
                    <a:lstStyle/>
                    <a:p>
                      <a:r>
                        <a:rPr sz="1800" b="0">
                          <a:solidFill>
                            <a:srgbClr val="183847"/>
                          </a:solidFill>
                          <a:latin typeface="Arial"/>
                          <a:ea typeface="Arial"/>
                          <a:cs typeface="Arial"/>
                        </a:rPr>
                        <a:t>Municípios</a:t>
                      </a:r>
                    </a:p>
                  </a:txBody>
                  <a:tcPr marL="91440" marR="91440" marT="45720" marB="45720" anchor="ctr">
                    <a:lnL w="0">
                      <a:solidFill>
                        <a:srgbClr val="FFFFFF"/>
                      </a:solidFill>
                      <a:prstDash val="solid"/>
                    </a:lnL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1F5F5"/>
                    </a:solidFill>
                  </a:tcPr>
                </a:tc>
                <a:tc>
                  <a:txBody>
                    <a:bodyPr lIns="133350" tIns="133350" rIns="114300" bIns="95250"/>
                    <a:lstStyle/>
                    <a:p>
                      <a:r>
                        <a:rPr sz="1800" b="0">
                          <a:solidFill>
                            <a:srgbClr val="183847"/>
                          </a:solidFill>
                          <a:latin typeface="Arial"/>
                          <a:ea typeface="Arial"/>
                          <a:cs typeface="Arial"/>
                        </a:rPr>
                        <a:t>Rede Municipal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1F5F5"/>
                    </a:solidFill>
                  </a:tcPr>
                </a:tc>
              </a:tr>
              <a:tr h="762000">
                <a:tc>
                  <a:txBody>
                    <a:bodyPr lIns="133350" tIns="133350" rIns="114300" bIns="95250"/>
                    <a:lstStyle/>
                    <a:p>
                      <a:r>
                        <a:rPr sz="1800" b="0">
                          <a:solidFill>
                            <a:srgbClr val="183847"/>
                          </a:solidFill>
                          <a:latin typeface="Arial"/>
                          <a:ea typeface="Arial"/>
                          <a:cs typeface="Arial"/>
                        </a:rPr>
                        <a:t>UF e Brasil</a:t>
                      </a:r>
                    </a:p>
                  </a:txBody>
                  <a:tcPr marL="91440" marR="91440" marT="45720" marB="45720" anchor="ctr">
                    <a:lnL w="0">
                      <a:solidFill>
                        <a:srgbClr val="FFFFFF"/>
                      </a:solidFill>
                      <a:prstDash val="solid"/>
                    </a:lnL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14300" bIns="95250"/>
                    <a:lstStyle/>
                    <a:p>
                      <a:r>
                        <a:rPr sz="1800" b="0">
                          <a:solidFill>
                            <a:srgbClr val="183847"/>
                          </a:solidFill>
                          <a:latin typeface="Arial"/>
                          <a:ea typeface="Arial"/>
                          <a:cs typeface="Arial"/>
                        </a:rPr>
                        <a:t>Rede Pública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lIns="133350" tIns="133350" rIns="114300" bIns="95250"/>
                    <a:lstStyle/>
                    <a:p>
                      <a:r>
                        <a:rPr sz="1800" b="0">
                          <a:solidFill>
                            <a:srgbClr val="183847"/>
                          </a:solidFill>
                          <a:latin typeface="Arial"/>
                          <a:ea typeface="Arial"/>
                          <a:cs typeface="Arial"/>
                        </a:rPr>
                        <a:t>Microdados</a:t>
                      </a:r>
                    </a:p>
                  </a:txBody>
                  <a:tcPr marL="91440" marR="91440" marT="45720" marB="45720" anchor="ctr">
                    <a:lnL w="0">
                      <a:solidFill>
                        <a:srgbClr val="FFFFFF"/>
                      </a:solidFill>
                      <a:prstDash val="solid"/>
                    </a:lnL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1F5F5"/>
                    </a:solidFill>
                  </a:tcPr>
                </a:tc>
                <a:tc>
                  <a:txBody>
                    <a:bodyPr lIns="133350" tIns="133350" rIns="114300" bIns="95250"/>
                    <a:lstStyle/>
                    <a:p>
                      <a:r>
                        <a:rPr sz="1800" b="0">
                          <a:solidFill>
                            <a:srgbClr val="183847"/>
                          </a:solidFill>
                          <a:latin typeface="Arial"/>
                          <a:ea typeface="Arial"/>
                          <a:cs typeface="Arial"/>
                        </a:rPr>
                        <a:t>Pesos e elegibilidade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1F5F5"/>
                    </a:solidFill>
                  </a:tcPr>
                </a:tc>
              </a:tr>
            </a:tbl>
          </a:graphicData>
        </a:graphic>
      </p:graphicFrame>
      <p:sp>
        <p:nvSpPr>
          <p:cNvPr id="8" name="target-note">
            <a:extLst xmlns:a="http://schemas.openxmlformats.org/drawingml/2006/main">
              <a:ext uri="{FF2B5EF4-FFF2-40B4-BE49-F238E27FC236}">
                <a16:creationId xmlns:a16="http://schemas.microsoft.com/office/drawing/2014/main" id="{232B9214-515E-41D0-BF3D-DD1C7B879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02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B77"/>
                </a:solidFill>
                <a:latin typeface="Arial"/>
                <a:ea typeface="Arial"/>
                <a:cs typeface="Arial"/>
              </a:rPr>
              <a:t>Meta pactuada de 2030: 80%. Universalização aspiracional: 100%.</a:t>
            </a:r>
          </a:p>
        </p:txBody>
      </p:sp>
    </p:spTree>
    <p:extLst>
      <p:ext uri="{BB962C8B-B14F-4D97-AF65-F5344CB8AC3E}">
        <p14:creationId xmlns:p14="http://schemas.microsoft.com/office/powerpoint/2010/main" val="183902680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7CC5D898-4006-4D15-8D45-448327AD8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F40"/>
                </a:solidFill>
                <a:latin typeface="Arial"/>
                <a:ea typeface="Arial"/>
                <a:cs typeface="Arial"/>
              </a:rPr>
              <a:t>5.232 municípios permitem a comparação</a:t>
            </a:r>
          </a:p>
        </p:txBody>
      </p:sp>
      <p:sp>
        <p:nvSpPr>
          <p:cNvPr id="3" name="page-2">
            <a:extLst xmlns:a="http://schemas.openxmlformats.org/drawingml/2006/main">
              <a:ext uri="{FF2B5EF4-FFF2-40B4-BE49-F238E27FC236}">
                <a16:creationId xmlns:a16="http://schemas.microsoft.com/office/drawing/2014/main" id="{6664D66B-DEC0-4FBF-A029-55A7E25DA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B7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BDFBD55E-B798-41C6-87C1-B41DCA93C09A}"/>
              </a:ext>
            </a:extLst>
          </p:cNvPr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79057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af388f16b2e4693"/>
          </a:graphicData>
        </a:graphic>
      </p:graphicFrame>
      <p:sp>
        <p:nvSpPr>
          <p:cNvPr id="5" name="n-no-match">
            <a:extLst xmlns:a="http://schemas.openxmlformats.org/drawingml/2006/main">
              <a:ext uri="{FF2B5EF4-FFF2-40B4-BE49-F238E27FC236}">
                <a16:creationId xmlns:a16="http://schemas.microsoft.com/office/drawing/2014/main" id="{9C132B37-9FE7-499D-B66E-406A8CC87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247900"/>
            <a:ext cx="2381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675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defPPr>
            <a:lvl1pPr>
              <a:defRPr sz="675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1pPr>
            <a:lvl2pPr>
              <a:defRPr sz="675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2pPr>
            <a:lvl3pPr>
              <a:defRPr sz="675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3pPr>
            <a:lvl4pPr>
              <a:defRPr sz="675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4pPr>
            <a:lvl5pPr>
              <a:defRPr sz="675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5pPr>
            <a:lvl6pPr>
              <a:defRPr sz="675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6pPr>
            <a:lvl7pPr>
              <a:defRPr sz="675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7pPr>
            <a:lvl8pPr>
              <a:defRPr sz="675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8pPr>
            <a:lvl9pPr>
              <a:defRPr sz="675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675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087F80"/>
                </a:solidFill>
                <a:latin typeface="Arial"/>
                <a:ea typeface="Arial"/>
                <a:cs typeface="Arial"/>
              </a:rPr>
              <a:t>216</a:t>
            </a:r>
          </a:p>
        </p:txBody>
      </p:sp>
      <p:sp>
        <p:nvSpPr>
          <p:cNvPr id="6" name="no-match-label">
            <a:extLst xmlns:a="http://schemas.openxmlformats.org/drawingml/2006/main">
              <a:ext uri="{FF2B5EF4-FFF2-40B4-BE49-F238E27FC236}">
                <a16:creationId xmlns:a16="http://schemas.microsoft.com/office/drawing/2014/main" id="{5B8BDCF5-09C8-4F55-99F0-22D4357C6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352800"/>
            <a:ext cx="238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83847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83847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83847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83847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83847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83847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83847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83847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83847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838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8384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3847"/>
                </a:solidFill>
                <a:latin typeface="Arial"/>
                <a:ea typeface="Arial"/>
                <a:cs typeface="Arial"/>
              </a:rPr>
              <a:t>sem comparação</a:t>
            </a:r>
          </a:p>
        </p:txBody>
      </p:sp>
      <p:sp>
        <p:nvSpPr>
          <p:cNvPr id="7" name="inep-label">
            <a:extLst xmlns:a="http://schemas.openxmlformats.org/drawingml/2006/main">
              <a:ext uri="{FF2B5EF4-FFF2-40B4-BE49-F238E27FC236}">
                <a16:creationId xmlns:a16="http://schemas.microsoft.com/office/drawing/2014/main" id="{DA10B0AE-B528-4AA2-9465-CDEDEE84B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257675"/>
            <a:ext cx="2400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B77"/>
                </a:solidFill>
                <a:latin typeface="Arial"/>
                <a:ea typeface="Arial"/>
                <a:cs typeface="Arial"/>
              </a:rPr>
              <a:t>Ausências conferidas</a:t>
            </a:r>
          </a:p>
          <a:p xmlns:a="http://schemas.openxmlformats.org/drawingml/2006/main">
            <a:pPr>
              <a:defRPr sz="1875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B77"/>
                </a:solidFill>
                <a:latin typeface="Arial"/>
                <a:ea typeface="Arial"/>
                <a:cs typeface="Arial"/>
              </a:rPr>
              <a:t>nos originais do Inep</a:t>
            </a:r>
          </a:p>
        </p:txBody>
      </p:sp>
      <p:sp>
        <p:nvSpPr>
          <p:cNvPr id="8" name="scope">
            <a:extLst xmlns:a="http://schemas.openxmlformats.org/drawingml/2006/main">
              <a:ext uri="{FF2B5EF4-FFF2-40B4-BE49-F238E27FC236}">
                <a16:creationId xmlns:a16="http://schemas.microsoft.com/office/drawing/2014/main" id="{9E47C142-D4EB-42D5-924F-A4BBA82A4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57875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B77"/>
                </a:solidFill>
                <a:latin typeface="Arial"/>
                <a:ea typeface="Arial"/>
                <a:cs typeface="Arial"/>
              </a:rPr>
              <a:t>Universo: 5.448 municípios. Resultado e meta de 2024, rede Municipal.</a:t>
            </a:r>
          </a:p>
        </p:txBody>
      </p:sp>
    </p:spTree>
    <p:extLst>
      <p:ext uri="{BB962C8B-B14F-4D97-AF65-F5344CB8AC3E}">
        <p14:creationId xmlns:p14="http://schemas.microsoft.com/office/powerpoint/2010/main" val="19019144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7215BA36-1685-4B39-800E-8074D72E8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F40"/>
                </a:solidFill>
                <a:latin typeface="Arial"/>
                <a:ea typeface="Arial"/>
                <a:cs typeface="Arial"/>
              </a:rPr>
              <a:t>Camadas com histórico preservado</a:t>
            </a:r>
          </a:p>
        </p:txBody>
      </p:sp>
      <p:sp>
        <p:nvSpPr>
          <p:cNvPr id="3" name="page-3">
            <a:extLst xmlns:a="http://schemas.openxmlformats.org/drawingml/2006/main">
              <a:ext uri="{FF2B5EF4-FFF2-40B4-BE49-F238E27FC236}">
                <a16:creationId xmlns:a16="http://schemas.microsoft.com/office/drawing/2014/main" id="{AADA876F-813D-413B-8179-FFF650581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B7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04989B-B099-48F6-82BF-F5426F0D9869}"/>
              </a:ext>
            </a:extLst>
          </p:cNvPr>
          <p:cNvGraphicFramePr/>
          <p:nvPr/>
        </p:nvGraphicFramePr>
        <p:xfrm>
          <a:off xmlns:a="http://schemas.openxmlformats.org/drawingml/2006/main" x="685800" y="1905000"/>
          <a:ext xmlns:a="http://schemas.openxmlformats.org/drawingml/2006/main" cx="10820400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4762500"/>
                <a:gridCol w="4343400"/>
              </a:tblGrid>
              <a:tr h="738188">
                <a:tc>
                  <a:txBody>
                    <a:bodyPr lIns="133350" tIns="133350" rIns="114300" bIns="9525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Camada</a:t>
                      </a:r>
                    </a:p>
                  </a:txBody>
                  <a:tcPr marL="91440" marR="91440" marT="45720" marB="45720" anchor="ctr">
                    <a:lnL w="0">
                      <a:solidFill>
                        <a:srgbClr val="FFFFFF"/>
                      </a:solidFill>
                      <a:prstDash val="solid"/>
                    </a:lnL>
                    <a:lnR w="0">
                      <a:solidFill>
                        <a:srgbClr val="FFFFFF"/>
                      </a:solidFill>
                      <a:prstDash val="solid"/>
                    </a:lnR>
                    <a:lnT w="0">
                      <a:solidFill>
                        <a:srgbClr val="FFFFFF"/>
                      </a:solidFill>
                      <a:prstDash val="solid"/>
                    </a:lnT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102F40"/>
                    </a:solidFill>
                  </a:tcPr>
                </a:tc>
                <a:tc>
                  <a:txBody>
                    <a:bodyPr lIns="133350" tIns="133350" rIns="114300" bIns="9525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Função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  <a:prstDash val="solid"/>
                    </a:lnR>
                    <a:lnT w="0">
                      <a:solidFill>
                        <a:srgbClr val="FFFFFF"/>
                      </a:solidFill>
                      <a:prstDash val="solid"/>
                    </a:lnT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102F40"/>
                    </a:solidFill>
                  </a:tcPr>
                </a:tc>
                <a:tc>
                  <a:txBody>
                    <a:bodyPr lIns="133350" tIns="133350" rIns="114300" bIns="9525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Armazenamento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  <a:prstDash val="solid"/>
                    </a:lnR>
                    <a:lnT w="0">
                      <a:solidFill>
                        <a:srgbClr val="FFFFFF"/>
                      </a:solidFill>
                      <a:prstDash val="solid"/>
                    </a:lnT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102F40"/>
                    </a:solidFill>
                  </a:tcPr>
                </a:tc>
              </a:tr>
              <a:tr h="738188">
                <a:tc>
                  <a:txBody>
                    <a:bodyPr lIns="133350" tIns="133350" rIns="114300" bIns="95250"/>
                    <a:lstStyle/>
                    <a:p>
                      <a:r>
                        <a:rPr sz="1800" b="0">
                          <a:solidFill>
                            <a:srgbClr val="183847"/>
                          </a:solidFill>
                          <a:latin typeface="Arial"/>
                          <a:ea typeface="Arial"/>
                          <a:cs typeface="Arial"/>
                        </a:rPr>
                        <a:t>Bronze</a:t>
                      </a:r>
                    </a:p>
                  </a:txBody>
                  <a:tcPr marL="91440" marR="91440" marT="45720" marB="45720" anchor="ctr">
                    <a:lnL w="0">
                      <a:solidFill>
                        <a:srgbClr val="FFFFFF"/>
                      </a:solidFill>
                      <a:prstDash val="solid"/>
                    </a:lnL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1F5F5"/>
                    </a:solidFill>
                  </a:tcPr>
                </a:tc>
                <a:tc>
                  <a:txBody>
                    <a:bodyPr lIns="133350" tIns="133350" rIns="114300" bIns="95250"/>
                    <a:lstStyle/>
                    <a:p>
                      <a:r>
                        <a:rPr sz="1800" b="0">
                          <a:solidFill>
                            <a:srgbClr val="183847"/>
                          </a:solidFill>
                          <a:latin typeface="Arial"/>
                          <a:ea typeface="Arial"/>
                          <a:cs typeface="Arial"/>
                        </a:rPr>
                        <a:t>Brutos, metadados e histórico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1F5F5"/>
                    </a:solidFill>
                  </a:tcPr>
                </a:tc>
                <a:tc>
                  <a:txBody>
                    <a:bodyPr lIns="133350" tIns="133350" rIns="114300" bIns="95250"/>
                    <a:lstStyle/>
                    <a:p>
                      <a:r>
                        <a:rPr sz="1800" b="0">
                          <a:solidFill>
                            <a:srgbClr val="183847"/>
                          </a:solidFill>
                          <a:latin typeface="Arial"/>
                          <a:ea typeface="Arial"/>
                          <a:cs typeface="Arial"/>
                        </a:rPr>
                        <a:t>CSV.gz por execução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1F5F5"/>
                    </a:solidFill>
                  </a:tcPr>
                </a:tc>
              </a:tr>
              <a:tr h="738188">
                <a:tc>
                  <a:txBody>
                    <a:bodyPr lIns="133350" tIns="133350" rIns="114300" bIns="95250"/>
                    <a:lstStyle/>
                    <a:p>
                      <a:r>
                        <a:rPr sz="1800" b="0">
                          <a:solidFill>
                            <a:srgbClr val="183847"/>
                          </a:solidFill>
                          <a:latin typeface="Arial"/>
                          <a:ea typeface="Arial"/>
                          <a:cs typeface="Arial"/>
                        </a:rPr>
                        <a:t>Silver</a:t>
                      </a:r>
                    </a:p>
                  </a:txBody>
                  <a:tcPr marL="91440" marR="91440" marT="45720" marB="45720" anchor="ctr">
                    <a:lnL w="0">
                      <a:solidFill>
                        <a:srgbClr val="FFFFFF"/>
                      </a:solidFill>
                      <a:prstDash val="solid"/>
                    </a:lnL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14300" bIns="95250"/>
                    <a:lstStyle/>
                    <a:p>
                      <a:r>
                        <a:rPr sz="1800" b="0">
                          <a:solidFill>
                            <a:srgbClr val="183847"/>
                          </a:solidFill>
                          <a:latin typeface="Arial"/>
                          <a:ea typeface="Arial"/>
                          <a:cs typeface="Arial"/>
                        </a:rPr>
                        <a:t>Tipos, chaves e integração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14300" bIns="95250"/>
                    <a:lstStyle/>
                    <a:p>
                      <a:r>
                        <a:rPr sz="1800" b="0">
                          <a:solidFill>
                            <a:srgbClr val="183847"/>
                          </a:solidFill>
                          <a:latin typeface="Arial"/>
                          <a:ea typeface="Arial"/>
                          <a:cs typeface="Arial"/>
                        </a:rPr>
                        <a:t>Parquet ZSTD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8188">
                <a:tc>
                  <a:txBody>
                    <a:bodyPr lIns="133350" tIns="133350" rIns="114300" bIns="95250"/>
                    <a:lstStyle/>
                    <a:p>
                      <a:r>
                        <a:rPr sz="1800" b="0">
                          <a:solidFill>
                            <a:srgbClr val="183847"/>
                          </a:solidFill>
                          <a:latin typeface="Arial"/>
                          <a:ea typeface="Arial"/>
                          <a:cs typeface="Arial"/>
                        </a:rPr>
                        <a:t>Gold</a:t>
                      </a:r>
                    </a:p>
                  </a:txBody>
                  <a:tcPr marL="91440" marR="91440" marT="45720" marB="45720" anchor="ctr">
                    <a:lnL w="0">
                      <a:solidFill>
                        <a:srgbClr val="FFFFFF"/>
                      </a:solidFill>
                      <a:prstDash val="solid"/>
                    </a:lnL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1F5F5"/>
                    </a:solidFill>
                  </a:tcPr>
                </a:tc>
                <a:tc>
                  <a:txBody>
                    <a:bodyPr lIns="133350" tIns="133350" rIns="114300" bIns="95250"/>
                    <a:lstStyle/>
                    <a:p>
                      <a:r>
                        <a:rPr sz="1800" b="0">
                          <a:solidFill>
                            <a:srgbClr val="183847"/>
                          </a:solidFill>
                          <a:latin typeface="Arial"/>
                          <a:ea typeface="Arial"/>
                          <a:cs typeface="Arial"/>
                        </a:rPr>
                        <a:t>Resultados, metas e conferência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1F5F5"/>
                    </a:solidFill>
                  </a:tcPr>
                </a:tc>
                <a:tc>
                  <a:txBody>
                    <a:bodyPr lIns="133350" tIns="133350" rIns="114300" bIns="95250"/>
                    <a:lstStyle/>
                    <a:p>
                      <a:r>
                        <a:rPr sz="1800" b="0">
                          <a:solidFill>
                            <a:srgbClr val="183847"/>
                          </a:solidFill>
                          <a:latin typeface="Arial"/>
                          <a:ea typeface="Arial"/>
                          <a:cs typeface="Arial"/>
                        </a:rPr>
                        <a:t>CSV, Parquet e BigQuery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1F5F5"/>
                    </a:solidFill>
                  </a:tcPr>
                </a:tc>
              </a:tr>
            </a:tbl>
          </a:graphicData>
        </a:graphic>
      </p:graphicFrame>
      <p:sp>
        <p:nvSpPr>
          <p:cNvPr id="5" name="cloud-execution">
            <a:extLst xmlns:a="http://schemas.openxmlformats.org/drawingml/2006/main">
              <a:ext uri="{FF2B5EF4-FFF2-40B4-BE49-F238E27FC236}">
                <a16:creationId xmlns:a16="http://schemas.microsoft.com/office/drawing/2014/main" id="{85EE6DC9-4D9D-4B02-9652-780AE202E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768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536B77"/>
                </a:solidFill>
                <a:latin typeface="Arial"/>
                <a:ea typeface="Arial"/>
                <a:cs typeface="Arial"/>
              </a:rPr>
              <a:t>Cloud Shell executa o processamento.</a:t>
            </a:r>
          </a:p>
          <a:p xmlns:a="http://schemas.openxmlformats.org/drawingml/2006/main">
            <a:pPr>
              <a:defRPr sz="2325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536B77"/>
                </a:solidFill>
                <a:latin typeface="Arial"/>
                <a:ea typeface="Arial"/>
                <a:cs typeface="Arial"/>
              </a:rPr>
              <a:t>BigQuery mantém versões das tabelas analíticas.</a:t>
            </a:r>
          </a:p>
        </p:txBody>
      </p:sp>
    </p:spTree>
    <p:extLst>
      <p:ext uri="{BB962C8B-B14F-4D97-AF65-F5344CB8AC3E}">
        <p14:creationId xmlns:p14="http://schemas.microsoft.com/office/powerpoint/2010/main" val="175468746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D35612A2-1972-4CFC-BFB7-D68C2FFDA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F40"/>
                </a:solidFill>
                <a:latin typeface="Arial"/>
                <a:ea typeface="Arial"/>
                <a:cs typeface="Arial"/>
              </a:rPr>
              <a:t>Qualidade com bloqueio de publicação</a:t>
            </a:r>
          </a:p>
        </p:txBody>
      </p:sp>
      <p:sp>
        <p:nvSpPr>
          <p:cNvPr id="3" name="page-4">
            <a:extLst xmlns:a="http://schemas.openxmlformats.org/drawingml/2006/main">
              <a:ext uri="{FF2B5EF4-FFF2-40B4-BE49-F238E27FC236}">
                <a16:creationId xmlns:a16="http://schemas.microsoft.com/office/drawing/2014/main" id="{9B5A9F00-73C1-4EF8-8946-52DED27C4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B7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n-checks">
            <a:extLst xmlns:a="http://schemas.openxmlformats.org/drawingml/2006/main">
              <a:ext uri="{FF2B5EF4-FFF2-40B4-BE49-F238E27FC236}">
                <a16:creationId xmlns:a16="http://schemas.microsoft.com/office/drawing/2014/main" id="{ED6C68EE-8F6A-4B03-B3F2-621730A3C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2381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660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defPPr>
            <a:lvl1pPr>
              <a:defRPr sz="660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1pPr>
            <a:lvl2pPr>
              <a:defRPr sz="660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2pPr>
            <a:lvl3pPr>
              <a:defRPr sz="660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3pPr>
            <a:lvl4pPr>
              <a:defRPr sz="660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4pPr>
            <a:lvl5pPr>
              <a:defRPr sz="660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5pPr>
            <a:lvl6pPr>
              <a:defRPr sz="660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6pPr>
            <a:lvl7pPr>
              <a:defRPr sz="660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7pPr>
            <a:lvl8pPr>
              <a:defRPr sz="660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8pPr>
            <a:lvl9pPr>
              <a:defRPr sz="660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660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pPr>
            <a:r>
              <a:rPr sz="6600" b="1">
                <a:solidFill>
                  <a:srgbClr val="087F80"/>
                </a:solidFill>
                <a:latin typeface="Arial"/>
                <a:ea typeface="Arial"/>
                <a:cs typeface="Arial"/>
              </a:rPr>
              <a:t>116</a:t>
            </a:r>
          </a:p>
        </p:txBody>
      </p:sp>
      <p:sp>
        <p:nvSpPr>
          <p:cNvPr id="5" name="checks-label">
            <a:extLst xmlns:a="http://schemas.openxmlformats.org/drawingml/2006/main">
              <a:ext uri="{FF2B5EF4-FFF2-40B4-BE49-F238E27FC236}">
                <a16:creationId xmlns:a16="http://schemas.microsoft.com/office/drawing/2014/main" id="{A744F114-C06D-497C-A2B4-813487467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62250"/>
            <a:ext cx="561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83847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83847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83847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83847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83847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83847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83847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83847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83847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838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8384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3847"/>
                </a:solidFill>
                <a:latin typeface="Arial"/>
                <a:ea typeface="Arial"/>
                <a:cs typeface="Arial"/>
              </a:rPr>
              <a:t>verificações na versão revisada</a:t>
            </a:r>
          </a:p>
        </p:txBody>
      </p:sp>
      <p:sp>
        <p:nvSpPr>
          <p:cNvPr id="6" name="n-joins">
            <a:extLst xmlns:a="http://schemas.openxmlformats.org/drawingml/2006/main">
              <a:ext uri="{FF2B5EF4-FFF2-40B4-BE49-F238E27FC236}">
                <a16:creationId xmlns:a16="http://schemas.microsoft.com/office/drawing/2014/main" id="{5EBB3A4F-3C24-4171-A6BE-DB453900E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14500"/>
            <a:ext cx="2476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660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defPPr>
            <a:lvl1pPr>
              <a:defRPr sz="660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1pPr>
            <a:lvl2pPr>
              <a:defRPr sz="660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2pPr>
            <a:lvl3pPr>
              <a:defRPr sz="660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3pPr>
            <a:lvl4pPr>
              <a:defRPr sz="660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4pPr>
            <a:lvl5pPr>
              <a:defRPr sz="660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5pPr>
            <a:lvl6pPr>
              <a:defRPr sz="660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6pPr>
            <a:lvl7pPr>
              <a:defRPr sz="660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7pPr>
            <a:lvl8pPr>
              <a:defRPr sz="660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8pPr>
            <a:lvl9pPr>
              <a:defRPr sz="660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660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pPr>
            <a:r>
              <a:rPr sz="6600" b="1">
                <a:solidFill>
                  <a:srgbClr val="087F8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7" name="joins-label">
            <a:extLst xmlns:a="http://schemas.openxmlformats.org/drawingml/2006/main">
              <a:ext uri="{FF2B5EF4-FFF2-40B4-BE49-F238E27FC236}">
                <a16:creationId xmlns:a16="http://schemas.microsoft.com/office/drawing/2014/main" id="{1D8343C2-3C5A-474E-A196-AAC31490E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62250"/>
            <a:ext cx="447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83847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83847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83847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83847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83847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83847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83847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83847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83847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838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8384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3847"/>
                </a:solidFill>
                <a:latin typeface="Arial"/>
                <a:ea typeface="Arial"/>
                <a:cs typeface="Arial"/>
              </a:rPr>
              <a:t>métricas de correspondência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C894D6-9A74-4574-9F97-DD9A4DBEEE52}"/>
              </a:ext>
            </a:extLst>
          </p:cNvPr>
          <p:cNvGraphicFramePr/>
          <p:nvPr/>
        </p:nvGraphicFramePr>
        <p:xfrm>
          <a:off xmlns:a="http://schemas.openxmlformats.org/drawingml/2006/main" x="685800" y="3686175"/>
          <a:ext xmlns:a="http://schemas.openxmlformats.org/drawingml/2006/main" cx="10820400" cy="1857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8343900"/>
              </a:tblGrid>
              <a:tr h="619125">
                <a:tc>
                  <a:txBody>
                    <a:bodyPr lIns="133350" tIns="133350" rIns="114300" bIns="9525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Política</a:t>
                      </a:r>
                    </a:p>
                  </a:txBody>
                  <a:tcPr marL="91440" marR="91440" marT="45720" marB="45720" anchor="ctr">
                    <a:lnL w="0">
                      <a:solidFill>
                        <a:srgbClr val="FFFFFF"/>
                      </a:solidFill>
                      <a:prstDash val="solid"/>
                    </a:lnL>
                    <a:lnR w="0">
                      <a:solidFill>
                        <a:srgbClr val="FFFFFF"/>
                      </a:solidFill>
                      <a:prstDash val="solid"/>
                    </a:lnR>
                    <a:lnT w="0">
                      <a:solidFill>
                        <a:srgbClr val="FFFFFF"/>
                      </a:solidFill>
                      <a:prstDash val="solid"/>
                    </a:lnT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102F40"/>
                    </a:solidFill>
                  </a:tcPr>
                </a:tc>
                <a:tc>
                  <a:txBody>
                    <a:bodyPr lIns="133350" tIns="133350" rIns="114300" bIns="9525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Tratamento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  <a:prstDash val="solid"/>
                    </a:lnR>
                    <a:lnT w="0">
                      <a:solidFill>
                        <a:srgbClr val="FFFFFF"/>
                      </a:solidFill>
                      <a:prstDash val="solid"/>
                    </a:lnT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102F40"/>
                    </a:solidFill>
                  </a:tcPr>
                </a:tc>
              </a:tr>
              <a:tr h="619125">
                <a:tc>
                  <a:txBody>
                    <a:bodyPr lIns="133350" tIns="133350" rIns="114300" bIns="95250"/>
                    <a:lstStyle/>
                    <a:p>
                      <a:r>
                        <a:rPr sz="1800" b="0">
                          <a:solidFill>
                            <a:srgbClr val="183847"/>
                          </a:solidFill>
                          <a:latin typeface="Arial"/>
                          <a:ea typeface="Arial"/>
                          <a:cs typeface="Arial"/>
                        </a:rPr>
                        <a:t>Bloqueante</a:t>
                      </a:r>
                    </a:p>
                  </a:txBody>
                  <a:tcPr marL="91440" marR="91440" marT="45720" marB="45720" anchor="ctr">
                    <a:lnL w="0">
                      <a:solidFill>
                        <a:srgbClr val="FFFFFF"/>
                      </a:solidFill>
                      <a:prstDash val="solid"/>
                    </a:lnL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1F5F5"/>
                    </a:solidFill>
                  </a:tcPr>
                </a:tc>
                <a:tc>
                  <a:txBody>
                    <a:bodyPr lIns="133350" tIns="133350" rIns="114300" bIns="95250"/>
                    <a:lstStyle/>
                    <a:p>
                      <a:r>
                        <a:rPr sz="1800" b="0">
                          <a:solidFill>
                            <a:srgbClr val="183847"/>
                          </a:solidFill>
                          <a:latin typeface="Arial"/>
                          <a:ea typeface="Arial"/>
                          <a:cs typeface="Arial"/>
                        </a:rPr>
                        <a:t>Interrompe a publicação e registra o erro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1F5F5"/>
                    </a:solidFill>
                  </a:tcPr>
                </a:tc>
              </a:tr>
              <a:tr h="619125">
                <a:tc>
                  <a:txBody>
                    <a:bodyPr lIns="133350" tIns="133350" rIns="114300" bIns="95250"/>
                    <a:lstStyle/>
                    <a:p>
                      <a:r>
                        <a:rPr sz="1800" b="0">
                          <a:solidFill>
                            <a:srgbClr val="183847"/>
                          </a:solidFill>
                          <a:latin typeface="Arial"/>
                          <a:ea typeface="Arial"/>
                          <a:cs typeface="Arial"/>
                        </a:rPr>
                        <a:t>Informativa</a:t>
                      </a:r>
                    </a:p>
                  </a:txBody>
                  <a:tcPr marL="91440" marR="91440" marT="45720" marB="45720" anchor="ctr">
                    <a:lnL w="0">
                      <a:solidFill>
                        <a:srgbClr val="FFFFFF"/>
                      </a:solidFill>
                      <a:prstDash val="solid"/>
                    </a:lnL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14300" bIns="95250"/>
                    <a:lstStyle/>
                    <a:p>
                      <a:r>
                        <a:rPr sz="1800" b="0">
                          <a:solidFill>
                            <a:srgbClr val="183847"/>
                          </a:solidFill>
                          <a:latin typeface="Arial"/>
                          <a:ea typeface="Arial"/>
                          <a:cs typeface="Arial"/>
                        </a:rPr>
                        <a:t>Preserva ausências e divergências conhecidas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quality-proof">
            <a:extLst xmlns:a="http://schemas.openxmlformats.org/drawingml/2006/main">
              <a:ext uri="{FF2B5EF4-FFF2-40B4-BE49-F238E27FC236}">
                <a16:creationId xmlns:a16="http://schemas.microsoft.com/office/drawing/2014/main" id="{F957C5AB-F02E-4830-B825-10218210F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95975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B77"/>
                </a:solidFill>
                <a:latin typeface="Arial"/>
                <a:ea typeface="Arial"/>
                <a:cs typeface="Arial"/>
              </a:rPr>
              <a:t>Falha comprovada com preservação da versão válida anterior.</a:t>
            </a:r>
          </a:p>
        </p:txBody>
      </p:sp>
    </p:spTree>
    <p:extLst>
      <p:ext uri="{BB962C8B-B14F-4D97-AF65-F5344CB8AC3E}">
        <p14:creationId xmlns:p14="http://schemas.microsoft.com/office/powerpoint/2010/main" val="100544877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E6EA5FD1-709C-4F89-B6CE-E0EB1FD8E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F40"/>
                </a:solidFill>
                <a:latin typeface="Arial"/>
                <a:ea typeface="Arial"/>
                <a:cs typeface="Arial"/>
              </a:rPr>
              <a:t>Streaming com recuperação e deduplicação</a:t>
            </a:r>
          </a:p>
        </p:txBody>
      </p:sp>
      <p:sp>
        <p:nvSpPr>
          <p:cNvPr id="3" name="page-5">
            <a:extLst xmlns:a="http://schemas.openxmlformats.org/drawingml/2006/main">
              <a:ext uri="{FF2B5EF4-FFF2-40B4-BE49-F238E27FC236}">
                <a16:creationId xmlns:a16="http://schemas.microsoft.com/office/drawing/2014/main" id="{4BB99E98-EB22-4222-9726-B3FB4C463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B77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F4E018B3-27E4-4592-8137-62B2E53216F4}"/>
              </a:ext>
            </a:extLst>
          </p:cNvPr>
          <p:cNvGraphicFramePr/>
          <p:nvPr/>
        </p:nvGraphicFramePr>
        <p:xfrm>
          <a:off xmlns:a="http://schemas.openxmlformats.org/drawingml/2006/main" x="666750" y="2028825"/>
          <a:ext xmlns:a="http://schemas.openxmlformats.org/drawingml/2006/main" cx="7000875" cy="3286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ba35803b2ae43e0"/>
          </a:graphicData>
        </a:graphic>
      </p:graphicFrame>
      <p:sp>
        <p:nvSpPr>
          <p:cNvPr id="5" name="n-receipts">
            <a:extLst xmlns:a="http://schemas.openxmlformats.org/drawingml/2006/main">
              <a:ext uri="{FF2B5EF4-FFF2-40B4-BE49-F238E27FC236}">
                <a16:creationId xmlns:a16="http://schemas.microsoft.com/office/drawing/2014/main" id="{209A0102-5283-4824-8E8F-6B4CF8570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00250"/>
            <a:ext cx="2381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675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defPPr>
            <a:lvl1pPr>
              <a:defRPr sz="675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1pPr>
            <a:lvl2pPr>
              <a:defRPr sz="675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2pPr>
            <a:lvl3pPr>
              <a:defRPr sz="675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3pPr>
            <a:lvl4pPr>
              <a:defRPr sz="675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4pPr>
            <a:lvl5pPr>
              <a:defRPr sz="675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5pPr>
            <a:lvl6pPr>
              <a:defRPr sz="675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6pPr>
            <a:lvl7pPr>
              <a:defRPr sz="675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7pPr>
            <a:lvl8pPr>
              <a:defRPr sz="675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8pPr>
            <a:lvl9pPr>
              <a:defRPr sz="675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675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087F80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6" name="receipts-label">
            <a:extLst xmlns:a="http://schemas.openxmlformats.org/drawingml/2006/main">
              <a:ext uri="{FF2B5EF4-FFF2-40B4-BE49-F238E27FC236}">
                <a16:creationId xmlns:a16="http://schemas.microsoft.com/office/drawing/2014/main" id="{E8D7289B-5BB4-45D6-82A3-43D46F678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095625"/>
            <a:ext cx="276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83847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83847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83847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83847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83847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83847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83847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83847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83847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838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8384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3847"/>
                </a:solidFill>
                <a:latin typeface="Arial"/>
                <a:ea typeface="Arial"/>
                <a:cs typeface="Arial"/>
              </a:rPr>
              <a:t>envios de teste</a:t>
            </a:r>
          </a:p>
        </p:txBody>
      </p:sp>
      <p:sp>
        <p:nvSpPr>
          <p:cNvPr id="7" name="stream-stages">
            <a:extLst xmlns:a="http://schemas.openxmlformats.org/drawingml/2006/main">
              <a:ext uri="{FF2B5EF4-FFF2-40B4-BE49-F238E27FC236}">
                <a16:creationId xmlns:a16="http://schemas.microsoft.com/office/drawing/2014/main" id="{0357F64C-DA95-4E0B-B37F-835068F07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10025"/>
            <a:ext cx="266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36B77"/>
                </a:solidFill>
                <a:latin typeface="Arial"/>
                <a:ea typeface="Arial"/>
                <a:cs typeface="Arial"/>
              </a:rPr>
              <a:t>3 microlotes</a:t>
            </a:r>
          </a:p>
          <a:p xmlns:a="http://schemas.openxmlformats.org/drawingml/2006/main">
            <a:pPr>
              <a:defRPr sz="225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36B77"/>
                </a:solidFill>
                <a:latin typeface="Arial"/>
                <a:ea typeface="Arial"/>
                <a:cs typeface="Arial"/>
              </a:rPr>
              <a:t>2 checkpoints</a:t>
            </a:r>
          </a:p>
        </p:txBody>
      </p:sp>
      <p:sp>
        <p:nvSpPr>
          <p:cNvPr id="8" name="stream-note">
            <a:extLst xmlns:a="http://schemas.openxmlformats.org/drawingml/2006/main">
              <a:ext uri="{FF2B5EF4-FFF2-40B4-BE49-F238E27FC236}">
                <a16:creationId xmlns:a16="http://schemas.microsoft.com/office/drawing/2014/main" id="{71DAD3FD-5F06-4C4C-894E-FE48FB92A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864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B77"/>
                </a:solidFill>
                <a:latin typeface="Arial"/>
                <a:ea typeface="Arial"/>
                <a:cs typeface="Arial"/>
              </a:rPr>
              <a:t>Eventos simulados identificados. Dados oficiais preservados.</a:t>
            </a:r>
          </a:p>
        </p:txBody>
      </p:sp>
    </p:spTree>
    <p:extLst>
      <p:ext uri="{BB962C8B-B14F-4D97-AF65-F5344CB8AC3E}">
        <p14:creationId xmlns:p14="http://schemas.microsoft.com/office/powerpoint/2010/main" val="45286312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B7685BA0-9EE7-4DD8-8937-F123C7AD1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F40"/>
                </a:solidFill>
                <a:latin typeface="Arial"/>
                <a:ea typeface="Arial"/>
                <a:cs typeface="Arial"/>
              </a:rPr>
              <a:t>Execução na nuvem e alertas recebidos</a:t>
            </a:r>
          </a:p>
        </p:txBody>
      </p:sp>
      <p:sp>
        <p:nvSpPr>
          <p:cNvPr id="3" name="page-6">
            <a:extLst xmlns:a="http://schemas.openxmlformats.org/drawingml/2006/main">
              <a:ext uri="{FF2B5EF4-FFF2-40B4-BE49-F238E27FC236}">
                <a16:creationId xmlns:a16="http://schemas.microsoft.com/office/drawing/2014/main" id="{8AB0DF50-2E6F-4D41-BC52-2EF04BC71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B77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n-jobs">
            <a:extLst xmlns:a="http://schemas.openxmlformats.org/drawingml/2006/main">
              <a:ext uri="{FF2B5EF4-FFF2-40B4-BE49-F238E27FC236}">
                <a16:creationId xmlns:a16="http://schemas.microsoft.com/office/drawing/2014/main" id="{561D86AA-0D2E-47CF-B7F1-E70D0BFE7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85950"/>
            <a:ext cx="238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720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defPPr>
            <a:lvl1pPr>
              <a:defRPr sz="720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1pPr>
            <a:lvl2pPr>
              <a:defRPr sz="720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2pPr>
            <a:lvl3pPr>
              <a:defRPr sz="720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3pPr>
            <a:lvl4pPr>
              <a:defRPr sz="720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4pPr>
            <a:lvl5pPr>
              <a:defRPr sz="720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5pPr>
            <a:lvl6pPr>
              <a:defRPr sz="720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6pPr>
            <a:lvl7pPr>
              <a:defRPr sz="720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7pPr>
            <a:lvl8pPr>
              <a:defRPr sz="720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8pPr>
            <a:lvl9pPr>
              <a:defRPr sz="720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720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pPr>
            <a:r>
              <a:rPr sz="7200" b="1">
                <a:solidFill>
                  <a:srgbClr val="087F80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5" name="jobs-label">
            <a:extLst xmlns:a="http://schemas.openxmlformats.org/drawingml/2006/main">
              <a:ext uri="{FF2B5EF4-FFF2-40B4-BE49-F238E27FC236}">
                <a16:creationId xmlns:a16="http://schemas.microsoft.com/office/drawing/2014/main" id="{0EF6F2D5-FFA3-4BCF-8EF1-4EA7E0DEC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38475"/>
            <a:ext cx="533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83847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83847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83847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83847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83847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83847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83847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83847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83847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838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83847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83847"/>
                </a:solidFill>
                <a:latin typeface="Arial"/>
                <a:ea typeface="Arial"/>
                <a:cs typeface="Arial"/>
              </a:rPr>
              <a:t>jobs de carga na GCP</a:t>
            </a:r>
          </a:p>
        </p:txBody>
      </p:sp>
      <p:sp>
        <p:nvSpPr>
          <p:cNvPr id="6" name="job-breakdown">
            <a:extLst xmlns:a="http://schemas.openxmlformats.org/drawingml/2006/main">
              <a:ext uri="{FF2B5EF4-FFF2-40B4-BE49-F238E27FC236}">
                <a16:creationId xmlns:a16="http://schemas.microsoft.com/office/drawing/2014/main" id="{17D0571A-1652-4F41-A4E0-519CC9D01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5143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36B77"/>
                </a:solidFill>
                <a:latin typeface="Arial"/>
                <a:ea typeface="Arial"/>
                <a:cs typeface="Arial"/>
              </a:rPr>
              <a:t>14 tabelas do batch</a:t>
            </a:r>
          </a:p>
          <a:p xmlns:a="http://schemas.openxmlformats.org/drawingml/2006/main">
            <a:pPr>
              <a:defRPr sz="225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36B77"/>
                </a:solidFill>
                <a:latin typeface="Arial"/>
                <a:ea typeface="Arial"/>
                <a:cs typeface="Arial"/>
              </a:rPr>
              <a:t>12 tabelas dos checkpoints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EA1D67-ABAA-447B-BDC9-5DE6128D23AE}"/>
              </a:ext>
            </a:extLst>
          </p:cNvPr>
          <p:cNvGraphicFramePr/>
          <p:nvPr/>
        </p:nvGraphicFramePr>
        <p:xfrm>
          <a:off xmlns:a="http://schemas.openxmlformats.org/drawingml/2006/main" x="6286500" y="2028825"/>
          <a:ext xmlns:a="http://schemas.openxmlformats.org/drawingml/2006/main" cx="5219700" cy="2286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3028950"/>
              </a:tblGrid>
              <a:tr h="762000">
                <a:tc>
                  <a:txBody>
                    <a:bodyPr lIns="133350" tIns="133350" rIns="114300" bIns="9525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Pipeline</a:t>
                      </a:r>
                    </a:p>
                  </a:txBody>
                  <a:tcPr marL="91440" marR="91440" marT="45720" marB="45720" anchor="ctr">
                    <a:lnL w="0">
                      <a:solidFill>
                        <a:srgbClr val="FFFFFF"/>
                      </a:solidFill>
                      <a:prstDash val="solid"/>
                    </a:lnL>
                    <a:lnR w="0">
                      <a:solidFill>
                        <a:srgbClr val="FFFFFF"/>
                      </a:solidFill>
                      <a:prstDash val="solid"/>
                    </a:lnR>
                    <a:lnT w="0">
                      <a:solidFill>
                        <a:srgbClr val="FFFFFF"/>
                      </a:solidFill>
                      <a:prstDash val="solid"/>
                    </a:lnT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102F40"/>
                    </a:solidFill>
                  </a:tcPr>
                </a:tc>
                <a:tc>
                  <a:txBody>
                    <a:bodyPr lIns="133350" tIns="133350" rIns="114300" bIns="9525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Aceitação no ntfy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  <a:prstDash val="solid"/>
                    </a:lnR>
                    <a:lnT w="0">
                      <a:solidFill>
                        <a:srgbClr val="FFFFFF"/>
                      </a:solidFill>
                      <a:prstDash val="solid"/>
                    </a:lnT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102F40"/>
                    </a:solidFill>
                  </a:tcPr>
                </a:tc>
              </a:tr>
              <a:tr h="762000">
                <a:tc>
                  <a:txBody>
                    <a:bodyPr lIns="133350" tIns="133350" rIns="114300" bIns="95250"/>
                    <a:lstStyle/>
                    <a:p>
                      <a:r>
                        <a:rPr sz="1800" b="0">
                          <a:solidFill>
                            <a:srgbClr val="183847"/>
                          </a:solidFill>
                          <a:latin typeface="Arial"/>
                          <a:ea typeface="Arial"/>
                          <a:cs typeface="Arial"/>
                        </a:rPr>
                        <a:t>Streaming</a:t>
                      </a:r>
                    </a:p>
                  </a:txBody>
                  <a:tcPr marL="91440" marR="91440" marT="45720" marB="45720" anchor="ctr">
                    <a:lnL w="0">
                      <a:solidFill>
                        <a:srgbClr val="FFFFFF"/>
                      </a:solidFill>
                      <a:prstDash val="solid"/>
                    </a:lnL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1F5F5"/>
                    </a:solidFill>
                  </a:tcPr>
                </a:tc>
                <a:tc>
                  <a:txBody>
                    <a:bodyPr lIns="133350" tIns="133350" rIns="114300" bIns="95250"/>
                    <a:lstStyle/>
                    <a:p>
                      <a:r>
                        <a:rPr sz="1800" b="0">
                          <a:solidFill>
                            <a:srgbClr val="183847"/>
                          </a:solidFill>
                          <a:latin typeface="Arial"/>
                          <a:ea typeface="Arial"/>
                          <a:cs typeface="Arial"/>
                        </a:rPr>
                        <a:t>0,191 s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1F5F5"/>
                    </a:solidFill>
                  </a:tcPr>
                </a:tc>
              </a:tr>
              <a:tr h="762000">
                <a:tc>
                  <a:txBody>
                    <a:bodyPr lIns="133350" tIns="133350" rIns="114300" bIns="95250"/>
                    <a:lstStyle/>
                    <a:p>
                      <a:r>
                        <a:rPr sz="1800" b="0">
                          <a:solidFill>
                            <a:srgbClr val="183847"/>
                          </a:solidFill>
                          <a:latin typeface="Arial"/>
                          <a:ea typeface="Arial"/>
                          <a:cs typeface="Arial"/>
                        </a:rPr>
                        <a:t>Batch</a:t>
                      </a:r>
                    </a:p>
                  </a:txBody>
                  <a:tcPr marL="91440" marR="91440" marT="45720" marB="45720" anchor="ctr">
                    <a:lnL w="0">
                      <a:solidFill>
                        <a:srgbClr val="FFFFFF"/>
                      </a:solidFill>
                      <a:prstDash val="solid"/>
                    </a:lnL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14300" bIns="95250"/>
                    <a:lstStyle/>
                    <a:p>
                      <a:r>
                        <a:rPr sz="1800" b="0">
                          <a:solidFill>
                            <a:srgbClr val="183847"/>
                          </a:solidFill>
                          <a:latin typeface="Arial"/>
                          <a:ea typeface="Arial"/>
                          <a:cs typeface="Arial"/>
                        </a:rPr>
                        <a:t>0,153 s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delivery-proof">
            <a:extLst xmlns:a="http://schemas.openxmlformats.org/drawingml/2006/main">
              <a:ext uri="{FF2B5EF4-FFF2-40B4-BE49-F238E27FC236}">
                <a16:creationId xmlns:a16="http://schemas.microsoft.com/office/drawing/2014/main" id="{9AEB8905-BA21-49AF-87B9-DD8A1A5CD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67250"/>
            <a:ext cx="5191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83847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83847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83847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83847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83847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83847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83847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83847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83847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838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384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847"/>
                </a:solidFill>
                <a:latin typeface="Arial"/>
                <a:ea typeface="Arial"/>
                <a:cs typeface="Arial"/>
              </a:rPr>
              <a:t>Os dois avisos chegaram ao tópico</a:t>
            </a:r>
          </a:p>
          <a:p xmlns:a="http://schemas.openxmlformats.org/drawingml/2006/main">
            <a:pPr>
              <a:defRPr sz="2100" b="0">
                <a:solidFill>
                  <a:srgbClr val="18384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847"/>
                </a:solidFill>
                <a:latin typeface="Arial"/>
                <a:ea typeface="Arial"/>
                <a:cs typeface="Arial"/>
              </a:rPr>
              <a:t>e tiveram recebimento confirmado.</a:t>
            </a:r>
          </a:p>
        </p:txBody>
      </p:sp>
      <p:sp>
        <p:nvSpPr>
          <p:cNvPr id="9" name="alert-note">
            <a:extLst xmlns:a="http://schemas.openxmlformats.org/drawingml/2006/main">
              <a:ext uri="{FF2B5EF4-FFF2-40B4-BE49-F238E27FC236}">
                <a16:creationId xmlns:a16="http://schemas.microsoft.com/office/drawing/2014/main" id="{DAAF6D7A-3D3C-44E6-9867-1C5E97073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3407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B77"/>
                </a:solidFill>
                <a:latin typeface="Arial"/>
                <a:ea typeface="Arial"/>
                <a:cs typeface="Arial"/>
              </a:rPr>
              <a:t>Tempos após detecção da falha até confirmação do servidor.</a:t>
            </a:r>
          </a:p>
        </p:txBody>
      </p:sp>
    </p:spTree>
    <p:extLst>
      <p:ext uri="{BB962C8B-B14F-4D97-AF65-F5344CB8AC3E}">
        <p14:creationId xmlns:p14="http://schemas.microsoft.com/office/powerpoint/2010/main" val="84720029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1C073EF8-4AB9-4145-AB1F-B1972192E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F40"/>
                </a:solidFill>
                <a:latin typeface="Arial"/>
                <a:ea typeface="Arial"/>
                <a:cs typeface="Arial"/>
              </a:rPr>
              <a:t>FinOps com medições reais</a:t>
            </a:r>
          </a:p>
        </p:txBody>
      </p:sp>
      <p:sp>
        <p:nvSpPr>
          <p:cNvPr id="3" name="page-7">
            <a:extLst xmlns:a="http://schemas.openxmlformats.org/drawingml/2006/main">
              <a:ext uri="{FF2B5EF4-FFF2-40B4-BE49-F238E27FC236}">
                <a16:creationId xmlns:a16="http://schemas.microsoft.com/office/drawing/2014/main" id="{E4729DC4-4AE2-4E33-9863-4ACE9095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B77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zero">
            <a:extLst xmlns:a="http://schemas.openxmlformats.org/drawingml/2006/main">
              <a:ext uri="{FF2B5EF4-FFF2-40B4-BE49-F238E27FC236}">
                <a16:creationId xmlns:a16="http://schemas.microsoft.com/office/drawing/2014/main" id="{F94678E9-5C81-4336-8686-28065C5C2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52625"/>
            <a:ext cx="53816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720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defPPr>
            <a:lvl1pPr>
              <a:defRPr sz="720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1pPr>
            <a:lvl2pPr>
              <a:defRPr sz="720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2pPr>
            <a:lvl3pPr>
              <a:defRPr sz="720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3pPr>
            <a:lvl4pPr>
              <a:defRPr sz="720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4pPr>
            <a:lvl5pPr>
              <a:defRPr sz="720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5pPr>
            <a:lvl6pPr>
              <a:defRPr sz="720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6pPr>
            <a:lvl7pPr>
              <a:defRPr sz="720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7pPr>
            <a:lvl8pPr>
              <a:defRPr sz="720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8pPr>
            <a:lvl9pPr>
              <a:defRPr sz="720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720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pPr>
            <a:r>
              <a:rPr sz="7200" b="1">
                <a:solidFill>
                  <a:srgbClr val="087F80"/>
                </a:solidFill>
                <a:latin typeface="Arial"/>
                <a:ea typeface="Arial"/>
                <a:cs typeface="Arial"/>
              </a:rPr>
              <a:t>US$ 0</a:t>
            </a:r>
          </a:p>
        </p:txBody>
      </p:sp>
      <p:sp>
        <p:nvSpPr>
          <p:cNvPr id="5" name="zero-label">
            <a:extLst xmlns:a="http://schemas.openxmlformats.org/drawingml/2006/main">
              <a:ext uri="{FF2B5EF4-FFF2-40B4-BE49-F238E27FC236}">
                <a16:creationId xmlns:a16="http://schemas.microsoft.com/office/drawing/2014/main" id="{5B17305E-9C53-4EFE-A4F0-402318DDD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0"/>
            <a:ext cx="5286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83847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83847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83847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83847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83847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83847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83847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83847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83847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838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83847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83847"/>
                </a:solidFill>
                <a:latin typeface="Arial"/>
                <a:ea typeface="Arial"/>
                <a:cs typeface="Arial"/>
              </a:rPr>
              <a:t>custo do ambiente acadêmico</a:t>
            </a:r>
          </a:p>
        </p:txBody>
      </p:sp>
      <p:sp>
        <p:nvSpPr>
          <p:cNvPr id="6" name="billing-disabled">
            <a:extLst xmlns:a="http://schemas.openxmlformats.org/drawingml/2006/main">
              <a:ext uri="{FF2B5EF4-FFF2-40B4-BE49-F238E27FC236}">
                <a16:creationId xmlns:a16="http://schemas.microsoft.com/office/drawing/2014/main" id="{4E1B868C-AE99-49C6-A03E-DF6A8E7CB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81475"/>
            <a:ext cx="533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36B77"/>
                </a:solidFill>
                <a:latin typeface="Arial"/>
                <a:ea typeface="Arial"/>
                <a:cs typeface="Arial"/>
              </a:rPr>
              <a:t>Faturamento desativado</a:t>
            </a:r>
          </a:p>
        </p:txBody>
      </p:sp>
      <p:sp>
        <p:nvSpPr>
          <p:cNvPr id="7" name="hypothesis">
            <a:extLst xmlns:a="http://schemas.openxmlformats.org/drawingml/2006/main">
              <a:ext uri="{FF2B5EF4-FFF2-40B4-BE49-F238E27FC236}">
                <a16:creationId xmlns:a16="http://schemas.microsoft.com/office/drawing/2014/main" id="{6318A5DC-3DC8-47B7-BAB4-61E15FB4D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438275"/>
            <a:ext cx="514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F40"/>
                </a:solidFill>
                <a:latin typeface="Arial"/>
                <a:ea typeface="Arial"/>
                <a:cs typeface="Arial"/>
              </a:rPr>
              <a:t>Hipótese de produção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24D629-486F-4A26-A572-E2010648CBD6}"/>
              </a:ext>
            </a:extLst>
          </p:cNvPr>
          <p:cNvGraphicFramePr/>
          <p:nvPr/>
        </p:nvGraphicFramePr>
        <p:xfrm>
          <a:off xmlns:a="http://schemas.openxmlformats.org/drawingml/2006/main" x="6286500" y="2009775"/>
          <a:ext xmlns:a="http://schemas.openxmlformats.org/drawingml/2006/main" cx="5219700" cy="32099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86125"/>
                <a:gridCol w="1933575"/>
              </a:tblGrid>
              <a:tr h="534988">
                <a:tc>
                  <a:txBody>
                    <a:bodyPr lIns="133350" tIns="133350" rIns="114300" bIns="9525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Item</a:t>
                      </a:r>
                    </a:p>
                  </a:txBody>
                  <a:tcPr marL="91440" marR="91440" marT="45720" marB="45720" anchor="ctr">
                    <a:lnL w="0">
                      <a:solidFill>
                        <a:srgbClr val="FFFFFF"/>
                      </a:solidFill>
                      <a:prstDash val="solid"/>
                    </a:lnL>
                    <a:lnR w="0">
                      <a:solidFill>
                        <a:srgbClr val="FFFFFF"/>
                      </a:solidFill>
                      <a:prstDash val="solid"/>
                    </a:lnR>
                    <a:lnT w="0">
                      <a:solidFill>
                        <a:srgbClr val="FFFFFF"/>
                      </a:solidFill>
                      <a:prstDash val="solid"/>
                    </a:lnT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102F40"/>
                    </a:solidFill>
                  </a:tcPr>
                </a:tc>
                <a:tc>
                  <a:txBody>
                    <a:bodyPr lIns="133350" tIns="133350" rIns="114300" bIns="9525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US$/mês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  <a:prstDash val="solid"/>
                    </a:lnR>
                    <a:lnT w="0">
                      <a:solidFill>
                        <a:srgbClr val="FFFFFF"/>
                      </a:solidFill>
                      <a:prstDash val="solid"/>
                    </a:lnT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102F40"/>
                    </a:solidFill>
                  </a:tcPr>
                </a:tc>
              </a:tr>
              <a:tr h="534988">
                <a:tc>
                  <a:txBody>
                    <a:bodyPr lIns="133350" tIns="133350" rIns="114300" bIns="95250"/>
                    <a:lstStyle/>
                    <a:p>
                      <a:r>
                        <a:rPr sz="1800" b="0">
                          <a:solidFill>
                            <a:srgbClr val="183847"/>
                          </a:solidFill>
                          <a:latin typeface="Arial"/>
                          <a:ea typeface="Arial"/>
                          <a:cs typeface="Arial"/>
                        </a:rPr>
                        <a:t>Disco persistente</a:t>
                      </a:r>
                    </a:p>
                  </a:txBody>
                  <a:tcPr marL="91440" marR="91440" marT="45720" marB="45720" anchor="ctr">
                    <a:lnL w="0">
                      <a:solidFill>
                        <a:srgbClr val="FFFFFF"/>
                      </a:solidFill>
                      <a:prstDash val="solid"/>
                    </a:lnL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1F5F5"/>
                    </a:solidFill>
                  </a:tcPr>
                </a:tc>
                <a:tc>
                  <a:txBody>
                    <a:bodyPr lIns="133350" tIns="133350" rIns="114300" bIns="95250"/>
                    <a:lstStyle/>
                    <a:p>
                      <a:r>
                        <a:rPr sz="1800" b="0">
                          <a:solidFill>
                            <a:srgbClr val="183847"/>
                          </a:solidFill>
                          <a:latin typeface="Arial"/>
                          <a:ea typeface="Arial"/>
                          <a:cs typeface="Arial"/>
                        </a:rPr>
                        <a:t>0,40000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1F5F5"/>
                    </a:solidFill>
                  </a:tcPr>
                </a:tc>
              </a:tr>
              <a:tr h="534988">
                <a:tc>
                  <a:txBody>
                    <a:bodyPr lIns="133350" tIns="133350" rIns="114300" bIns="95250"/>
                    <a:lstStyle/>
                    <a:p>
                      <a:r>
                        <a:rPr sz="1800" b="0">
                          <a:solidFill>
                            <a:srgbClr val="183847"/>
                          </a:solidFill>
                          <a:latin typeface="Arial"/>
                          <a:ea typeface="Arial"/>
                          <a:cs typeface="Arial"/>
                        </a:rPr>
                        <a:t>Executor e IP</a:t>
                      </a:r>
                    </a:p>
                  </a:txBody>
                  <a:tcPr marL="91440" marR="91440" marT="45720" marB="45720" anchor="ctr">
                    <a:lnL w="0">
                      <a:solidFill>
                        <a:srgbClr val="FFFFFF"/>
                      </a:solidFill>
                      <a:prstDash val="solid"/>
                    </a:lnL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14300" bIns="95250"/>
                    <a:lstStyle/>
                    <a:p>
                      <a:r>
                        <a:rPr sz="1800" b="0">
                          <a:solidFill>
                            <a:srgbClr val="183847"/>
                          </a:solidFill>
                          <a:latin typeface="Arial"/>
                          <a:ea typeface="Arial"/>
                          <a:cs typeface="Arial"/>
                        </a:rPr>
                        <a:t>0,00922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4988">
                <a:tc>
                  <a:txBody>
                    <a:bodyPr lIns="133350" tIns="133350" rIns="114300" bIns="95250"/>
                    <a:lstStyle/>
                    <a:p>
                      <a:r>
                        <a:rPr sz="1800" b="0">
                          <a:solidFill>
                            <a:srgbClr val="183847"/>
                          </a:solidFill>
                          <a:latin typeface="Arial"/>
                          <a:ea typeface="Arial"/>
                          <a:cs typeface="Arial"/>
                        </a:rPr>
                        <a:t>BigQuery</a:t>
                      </a:r>
                    </a:p>
                  </a:txBody>
                  <a:tcPr marL="91440" marR="91440" marT="45720" marB="45720" anchor="ctr">
                    <a:lnL w="0">
                      <a:solidFill>
                        <a:srgbClr val="FFFFFF"/>
                      </a:solidFill>
                      <a:prstDash val="solid"/>
                    </a:lnL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1F5F5"/>
                    </a:solidFill>
                  </a:tcPr>
                </a:tc>
                <a:tc>
                  <a:txBody>
                    <a:bodyPr lIns="133350" tIns="133350" rIns="114300" bIns="95250"/>
                    <a:lstStyle/>
                    <a:p>
                      <a:r>
                        <a:rPr sz="1800" b="0">
                          <a:solidFill>
                            <a:srgbClr val="183847"/>
                          </a:solidFill>
                          <a:latin typeface="Arial"/>
                          <a:ea typeface="Arial"/>
                          <a:cs typeface="Arial"/>
                        </a:rPr>
                        <a:t>0,01199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1F5F5"/>
                    </a:solidFill>
                  </a:tcPr>
                </a:tc>
              </a:tr>
              <a:tr h="534988">
                <a:tc>
                  <a:txBody>
                    <a:bodyPr lIns="133350" tIns="133350" rIns="114300" bIns="95250"/>
                    <a:lstStyle/>
                    <a:p>
                      <a:r>
                        <a:rPr sz="1800" b="0">
                          <a:solidFill>
                            <a:srgbClr val="183847"/>
                          </a:solidFill>
                          <a:latin typeface="Arial"/>
                          <a:ea typeface="Arial"/>
                          <a:cs typeface="Arial"/>
                        </a:rPr>
                        <a:t>Backup</a:t>
                      </a:r>
                    </a:p>
                  </a:txBody>
                  <a:tcPr marL="91440" marR="91440" marT="45720" marB="45720" anchor="ctr">
                    <a:lnL w="0">
                      <a:solidFill>
                        <a:srgbClr val="FFFFFF"/>
                      </a:solidFill>
                      <a:prstDash val="solid"/>
                    </a:lnL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14300" bIns="95250"/>
                    <a:lstStyle/>
                    <a:p>
                      <a:r>
                        <a:rPr sz="1800" b="0">
                          <a:solidFill>
                            <a:srgbClr val="183847"/>
                          </a:solidFill>
                          <a:latin typeface="Arial"/>
                          <a:ea typeface="Arial"/>
                          <a:cs typeface="Arial"/>
                        </a:rPr>
                        <a:t>0,02285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4988">
                <a:tc>
                  <a:txBody>
                    <a:bodyPr lIns="133350" tIns="133350" rIns="114300" bIns="95250"/>
                    <a:lstStyle/>
                    <a:p>
                      <a:r>
                        <a:rPr sz="1800" b="0">
                          <a:solidFill>
                            <a:srgbClr val="183847"/>
                          </a:solidFill>
                          <a:latin typeface="Arial"/>
                          <a:ea typeface="Arial"/>
                          <a:cs typeface="Arial"/>
                        </a:rPr>
                        <a:t>Total estimado</a:t>
                      </a:r>
                    </a:p>
                  </a:txBody>
                  <a:tcPr marL="91440" marR="91440" marT="45720" marB="45720" anchor="ctr">
                    <a:lnL w="0">
                      <a:solidFill>
                        <a:srgbClr val="FFFFFF"/>
                      </a:solidFill>
                      <a:prstDash val="solid"/>
                    </a:lnL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1F5F5"/>
                    </a:solidFill>
                  </a:tcPr>
                </a:tc>
                <a:tc>
                  <a:txBody>
                    <a:bodyPr lIns="133350" tIns="133350" rIns="114300" bIns="95250"/>
                    <a:lstStyle/>
                    <a:p>
                      <a:r>
                        <a:rPr sz="1800" b="0">
                          <a:solidFill>
                            <a:srgbClr val="183847"/>
                          </a:solidFill>
                          <a:latin typeface="Arial"/>
                          <a:ea typeface="Arial"/>
                          <a:cs typeface="Arial"/>
                        </a:rPr>
                        <a:t>~0,44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1F5F5"/>
                    </a:solidFill>
                  </a:tcPr>
                </a:tc>
              </a:tr>
            </a:tbl>
          </a:graphicData>
        </a:graphic>
      </p:graphicFrame>
      <p:sp>
        <p:nvSpPr>
          <p:cNvPr id="9" name="cost-note">
            <a:extLst xmlns:a="http://schemas.openxmlformats.org/drawingml/2006/main">
              <a:ext uri="{FF2B5EF4-FFF2-40B4-BE49-F238E27FC236}">
                <a16:creationId xmlns:a16="http://schemas.microsoft.com/office/drawing/2014/main" id="{DED6EEF0-A050-491D-92F3-656D78CE5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0"/>
            <a:ext cx="108204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B77"/>
                </a:solidFill>
                <a:latin typeface="Arial"/>
                <a:ea typeface="Arial"/>
                <a:cs typeface="Arial"/>
              </a:rPr>
              <a:t>Hipótese: 1 batch e 1 demonstração finita/mês, antes de franquias.</a:t>
            </a:r>
          </a:p>
          <a:p xmlns:a="http://schemas.openxmlformats.org/drawingml/2006/main">
            <a:pPr>
              <a:defRPr sz="180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B77"/>
                </a:solidFill>
                <a:latin typeface="Arial"/>
                <a:ea typeface="Arial"/>
                <a:cs typeface="Arial"/>
              </a:rPr>
              <a:t>Nenhuma infraestrutura paga foi criada.</a:t>
            </a:r>
          </a:p>
        </p:txBody>
      </p:sp>
    </p:spTree>
    <p:extLst>
      <p:ext uri="{BB962C8B-B14F-4D97-AF65-F5344CB8AC3E}">
        <p14:creationId xmlns:p14="http://schemas.microsoft.com/office/powerpoint/2010/main" val="29594225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0BD5DB48-42FA-4D33-9D3B-F6AE99A90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02F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F40"/>
                </a:solidFill>
                <a:latin typeface="Arial"/>
                <a:ea typeface="Arial"/>
                <a:cs typeface="Arial"/>
              </a:rPr>
              <a:t>Reprodução comprovada em clone limpo</a:t>
            </a:r>
          </a:p>
        </p:txBody>
      </p:sp>
      <p:sp>
        <p:nvSpPr>
          <p:cNvPr id="3" name="page-8">
            <a:extLst xmlns:a="http://schemas.openxmlformats.org/drawingml/2006/main">
              <a:ext uri="{FF2B5EF4-FFF2-40B4-BE49-F238E27FC236}">
                <a16:creationId xmlns:a16="http://schemas.microsoft.com/office/drawing/2014/main" id="{326851A9-FCDD-4261-8489-A804D5930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B77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n-tests">
            <a:extLst xmlns:a="http://schemas.openxmlformats.org/drawingml/2006/main">
              <a:ext uri="{FF2B5EF4-FFF2-40B4-BE49-F238E27FC236}">
                <a16:creationId xmlns:a16="http://schemas.microsoft.com/office/drawing/2014/main" id="{8320FD62-CAD9-4379-9DFE-AAFC05806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52625"/>
            <a:ext cx="3810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720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defPPr>
            <a:lvl1pPr>
              <a:defRPr sz="720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1pPr>
            <a:lvl2pPr>
              <a:defRPr sz="720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2pPr>
            <a:lvl3pPr>
              <a:defRPr sz="720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3pPr>
            <a:lvl4pPr>
              <a:defRPr sz="720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4pPr>
            <a:lvl5pPr>
              <a:defRPr sz="720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5pPr>
            <a:lvl6pPr>
              <a:defRPr sz="720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6pPr>
            <a:lvl7pPr>
              <a:defRPr sz="720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7pPr>
            <a:lvl8pPr>
              <a:defRPr sz="720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8pPr>
            <a:lvl9pPr>
              <a:defRPr sz="720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7200" b="1">
                <a:solidFill>
                  <a:srgbClr val="087F80"/>
                </a:solidFill>
                <a:latin typeface="Arial"/>
                <a:ea typeface="Arial"/>
                <a:cs typeface="Arial"/>
              </a:defRPr>
            </a:pPr>
            <a:r>
              <a:rPr sz="7200" b="1">
                <a:solidFill>
                  <a:srgbClr val="087F80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5" name="tests-label">
            <a:extLst xmlns:a="http://schemas.openxmlformats.org/drawingml/2006/main">
              <a:ext uri="{FF2B5EF4-FFF2-40B4-BE49-F238E27FC236}">
                <a16:creationId xmlns:a16="http://schemas.microsoft.com/office/drawing/2014/main" id="{9EB8A01D-E876-4A9E-B1F2-DDA150929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24200"/>
            <a:ext cx="485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83847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183847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183847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183847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183847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183847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183847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183847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183847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1838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83847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847"/>
                </a:solidFill>
                <a:latin typeface="Arial"/>
                <a:ea typeface="Arial"/>
                <a:cs typeface="Arial"/>
              </a:rPr>
              <a:t>testes aprovados</a:t>
            </a:r>
          </a:p>
        </p:txBody>
      </p:sp>
      <p:sp>
        <p:nvSpPr>
          <p:cNvPr id="6" name="clean-label">
            <a:extLst xmlns:a="http://schemas.openxmlformats.org/drawingml/2006/main">
              <a:ext uri="{FF2B5EF4-FFF2-40B4-BE49-F238E27FC236}">
                <a16:creationId xmlns:a16="http://schemas.microsoft.com/office/drawing/2014/main" id="{BDBBAB6C-18BC-4B69-BA79-063054211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86225"/>
            <a:ext cx="5095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36B77"/>
                </a:solidFill>
                <a:latin typeface="Arial"/>
                <a:ea typeface="Arial"/>
                <a:cs typeface="Arial"/>
              </a:rPr>
              <a:t>Clone novo, sem dados baixados</a:t>
            </a:r>
          </a:p>
          <a:p xmlns:a="http://schemas.openxmlformats.org/drawingml/2006/main">
            <a:pPr>
              <a:defRPr sz="2175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36B77"/>
                </a:solidFill>
                <a:latin typeface="Arial"/>
                <a:ea typeface="Arial"/>
                <a:cs typeface="Arial"/>
              </a:rPr>
              <a:t>nem ambiente Python anterior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7C9EAB-A9C9-478D-A7A2-A80DE9E86997}"/>
              </a:ext>
            </a:extLst>
          </p:cNvPr>
          <p:cNvGraphicFramePr/>
          <p:nvPr/>
        </p:nvGraphicFramePr>
        <p:xfrm>
          <a:off xmlns:a="http://schemas.openxmlformats.org/drawingml/2006/main" x="6286500" y="2047875"/>
          <a:ext xmlns:a="http://schemas.openxmlformats.org/drawingml/2006/main" cx="5219700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28850"/>
                <a:gridCol w="2990850"/>
              </a:tblGrid>
              <a:tr h="762000">
                <a:tc>
                  <a:txBody>
                    <a:bodyPr lIns="133350" tIns="133350" rIns="114300" bIns="9525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Verificação</a:t>
                      </a:r>
                    </a:p>
                  </a:txBody>
                  <a:tcPr marL="91440" marR="91440" marT="45720" marB="45720" anchor="ctr">
                    <a:lnL w="0">
                      <a:solidFill>
                        <a:srgbClr val="FFFFFF"/>
                      </a:solidFill>
                      <a:prstDash val="solid"/>
                    </a:lnL>
                    <a:lnR w="0">
                      <a:solidFill>
                        <a:srgbClr val="FFFFFF"/>
                      </a:solidFill>
                      <a:prstDash val="solid"/>
                    </a:lnR>
                    <a:lnT w="0">
                      <a:solidFill>
                        <a:srgbClr val="FFFFFF"/>
                      </a:solidFill>
                      <a:prstDash val="solid"/>
                    </a:lnT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102F40"/>
                    </a:solidFill>
                  </a:tcPr>
                </a:tc>
                <a:tc>
                  <a:txBody>
                    <a:bodyPr lIns="133350" tIns="133350" rIns="114300" bIns="9525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Resultado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  <a:prstDash val="solid"/>
                    </a:lnR>
                    <a:lnT w="0">
                      <a:solidFill>
                        <a:srgbClr val="FFFFFF"/>
                      </a:solidFill>
                      <a:prstDash val="solid"/>
                    </a:lnT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102F40"/>
                    </a:solidFill>
                  </a:tcPr>
                </a:tc>
              </a:tr>
              <a:tr h="762000">
                <a:tc>
                  <a:txBody>
                    <a:bodyPr lIns="133350" tIns="133350" rIns="114300" bIns="95250"/>
                    <a:lstStyle/>
                    <a:p>
                      <a:r>
                        <a:rPr sz="1800" b="0">
                          <a:solidFill>
                            <a:srgbClr val="183847"/>
                          </a:solidFill>
                          <a:latin typeface="Arial"/>
                          <a:ea typeface="Arial"/>
                          <a:cs typeface="Arial"/>
                        </a:rPr>
                        <a:t>Dependências</a:t>
                      </a:r>
                    </a:p>
                  </a:txBody>
                  <a:tcPr marL="91440" marR="91440" marT="45720" marB="45720" anchor="ctr">
                    <a:lnL w="0">
                      <a:solidFill>
                        <a:srgbClr val="FFFFFF"/>
                      </a:solidFill>
                      <a:prstDash val="solid"/>
                    </a:lnL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1F5F5"/>
                    </a:solidFill>
                  </a:tcPr>
                </a:tc>
                <a:tc>
                  <a:txBody>
                    <a:bodyPr lIns="133350" tIns="133350" rIns="114300" bIns="95250"/>
                    <a:lstStyle/>
                    <a:p>
                      <a:r>
                        <a:rPr sz="1800" b="0">
                          <a:solidFill>
                            <a:srgbClr val="183847"/>
                          </a:solidFill>
                          <a:latin typeface="Arial"/>
                          <a:ea typeface="Arial"/>
                          <a:cs typeface="Arial"/>
                        </a:rPr>
                        <a:t>Sem conflitos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1F5F5"/>
                    </a:solidFill>
                  </a:tcPr>
                </a:tc>
              </a:tr>
              <a:tr h="762000">
                <a:tc>
                  <a:txBody>
                    <a:bodyPr lIns="133350" tIns="133350" rIns="114300" bIns="95250"/>
                    <a:lstStyle/>
                    <a:p>
                      <a:r>
                        <a:rPr sz="1800" b="0">
                          <a:solidFill>
                            <a:srgbClr val="183847"/>
                          </a:solidFill>
                          <a:latin typeface="Arial"/>
                          <a:ea typeface="Arial"/>
                          <a:cs typeface="Arial"/>
                        </a:rPr>
                        <a:t>Batch e streaming</a:t>
                      </a:r>
                    </a:p>
                  </a:txBody>
                  <a:tcPr marL="91440" marR="91440" marT="45720" marB="45720" anchor="ctr">
                    <a:lnL w="0">
                      <a:solidFill>
                        <a:srgbClr val="FFFFFF"/>
                      </a:solidFill>
                      <a:prstDash val="solid"/>
                    </a:lnL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33350" rIns="114300" bIns="95250"/>
                    <a:lstStyle/>
                    <a:p>
                      <a:r>
                        <a:rPr sz="1800" b="0">
                          <a:solidFill>
                            <a:srgbClr val="183847"/>
                          </a:solidFill>
                          <a:latin typeface="Arial"/>
                          <a:ea typeface="Arial"/>
                          <a:cs typeface="Arial"/>
                        </a:rPr>
                        <a:t>26 tabelas publicadas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lIns="133350" tIns="133350" rIns="114300" bIns="95250"/>
                    <a:lstStyle/>
                    <a:p>
                      <a:r>
                        <a:rPr sz="1800" b="0">
                          <a:solidFill>
                            <a:srgbClr val="183847"/>
                          </a:solidFill>
                          <a:latin typeface="Arial"/>
                          <a:ea typeface="Arial"/>
                          <a:cs typeface="Arial"/>
                        </a:rPr>
                        <a:t>Falha bloqueante</a:t>
                      </a:r>
                    </a:p>
                  </a:txBody>
                  <a:tcPr marL="91440" marR="91440" marT="45720" marB="45720" anchor="ctr">
                    <a:lnL w="0">
                      <a:solidFill>
                        <a:srgbClr val="FFFFFF"/>
                      </a:solidFill>
                      <a:prstDash val="solid"/>
                    </a:lnL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1F5F5"/>
                    </a:solidFill>
                  </a:tcPr>
                </a:tc>
                <a:tc>
                  <a:txBody>
                    <a:bodyPr lIns="133350" tIns="133350" rIns="114300" bIns="95250"/>
                    <a:lstStyle/>
                    <a:p>
                      <a:r>
                        <a:rPr sz="1800" b="0">
                          <a:solidFill>
                            <a:srgbClr val="183847"/>
                          </a:solidFill>
                          <a:latin typeface="Arial"/>
                          <a:ea typeface="Arial"/>
                          <a:cs typeface="Arial"/>
                        </a:rPr>
                        <a:t>Código 1, versão preservada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  <a:prstDash val="solid"/>
                    </a:lnR>
                    <a:lnB w="0">
                      <a:solidFill>
                        <a:srgbClr val="FFFFFF"/>
                      </a:solidFill>
                      <a:prstDash val="solid"/>
                    </a:lnB>
                    <a:solidFill>
                      <a:srgbClr val="F1F5F5"/>
                    </a:solidFill>
                  </a:tcPr>
                </a:tc>
              </a:tr>
            </a:tbl>
          </a:graphicData>
        </a:graphic>
      </p:graphicFrame>
      <p:sp>
        <p:nvSpPr>
          <p:cNvPr id="8" name="auth-note">
            <a:extLst xmlns:a="http://schemas.openxmlformats.org/drawingml/2006/main">
              <a:ext uri="{FF2B5EF4-FFF2-40B4-BE49-F238E27FC236}">
                <a16:creationId xmlns:a16="http://schemas.microsoft.com/office/drawing/2014/main" id="{7C177F78-DAD9-4CC2-B857-710467F82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8645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36B7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B77"/>
                </a:solidFill>
                <a:latin typeface="Arial"/>
                <a:ea typeface="Arial"/>
                <a:cs typeface="Arial"/>
              </a:rPr>
              <a:t>Autenticação Google externa ao clone. Nenhuma credencial copiada.</a:t>
            </a:r>
          </a:p>
        </p:txBody>
      </p:sp>
    </p:spTree>
    <p:extLst>
      <p:ext uri="{BB962C8B-B14F-4D97-AF65-F5344CB8AC3E}">
        <p14:creationId xmlns:p14="http://schemas.microsoft.com/office/powerpoint/2010/main" val="136034813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02F4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27E62632-C63D-4B4A-B87D-4C1CCFA09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Base analítica preservada para a fase 3</a:t>
            </a:r>
          </a:p>
        </p:txBody>
      </p:sp>
      <p:sp>
        <p:nvSpPr>
          <p:cNvPr id="3" name="page-9">
            <a:extLst xmlns:a="http://schemas.openxmlformats.org/drawingml/2006/main">
              <a:ext uri="{FF2B5EF4-FFF2-40B4-BE49-F238E27FC236}">
                <a16:creationId xmlns:a16="http://schemas.microsoft.com/office/drawing/2014/main" id="{1BB4DCB8-CAB5-465A-91A1-DD6FE1403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ABC5CB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ABC5CB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ABC5CB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ABC5CB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ABC5CB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ABC5CB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ABC5CB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ABC5CB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ABC5CB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ABC5C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ABC5C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BC5CB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close-main">
            <a:extLst xmlns:a="http://schemas.openxmlformats.org/drawingml/2006/main">
              <a:ext uri="{FF2B5EF4-FFF2-40B4-BE49-F238E27FC236}">
                <a16:creationId xmlns:a16="http://schemas.microsoft.com/office/drawing/2014/main" id="{575E9E4E-B0C3-4FC9-9AC2-D2A956DBB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90875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650" b="1">
                <a:solidFill>
                  <a:srgbClr val="9DD6D0"/>
                </a:solidFill>
                <a:latin typeface="Arial"/>
                <a:ea typeface="Arial"/>
                <a:cs typeface="Arial"/>
              </a:defRPr>
            </a:defPPr>
            <a:lvl1pPr>
              <a:defRPr sz="4650" b="1">
                <a:solidFill>
                  <a:srgbClr val="9DD6D0"/>
                </a:solidFill>
                <a:latin typeface="Arial"/>
                <a:ea typeface="Arial"/>
                <a:cs typeface="Arial"/>
              </a:defRPr>
            </a:lvl1pPr>
            <a:lvl2pPr>
              <a:defRPr sz="4650" b="1">
                <a:solidFill>
                  <a:srgbClr val="9DD6D0"/>
                </a:solidFill>
                <a:latin typeface="Arial"/>
                <a:ea typeface="Arial"/>
                <a:cs typeface="Arial"/>
              </a:defRPr>
            </a:lvl2pPr>
            <a:lvl3pPr>
              <a:defRPr sz="4650" b="1">
                <a:solidFill>
                  <a:srgbClr val="9DD6D0"/>
                </a:solidFill>
                <a:latin typeface="Arial"/>
                <a:ea typeface="Arial"/>
                <a:cs typeface="Arial"/>
              </a:defRPr>
            </a:lvl3pPr>
            <a:lvl4pPr>
              <a:defRPr sz="4650" b="1">
                <a:solidFill>
                  <a:srgbClr val="9DD6D0"/>
                </a:solidFill>
                <a:latin typeface="Arial"/>
                <a:ea typeface="Arial"/>
                <a:cs typeface="Arial"/>
              </a:defRPr>
            </a:lvl4pPr>
            <a:lvl5pPr>
              <a:defRPr sz="4650" b="1">
                <a:solidFill>
                  <a:srgbClr val="9DD6D0"/>
                </a:solidFill>
                <a:latin typeface="Arial"/>
                <a:ea typeface="Arial"/>
                <a:cs typeface="Arial"/>
              </a:defRPr>
            </a:lvl5pPr>
            <a:lvl6pPr>
              <a:defRPr sz="4650" b="1">
                <a:solidFill>
                  <a:srgbClr val="9DD6D0"/>
                </a:solidFill>
                <a:latin typeface="Arial"/>
                <a:ea typeface="Arial"/>
                <a:cs typeface="Arial"/>
              </a:defRPr>
            </a:lvl6pPr>
            <a:lvl7pPr>
              <a:defRPr sz="4650" b="1">
                <a:solidFill>
                  <a:srgbClr val="9DD6D0"/>
                </a:solidFill>
                <a:latin typeface="Arial"/>
                <a:ea typeface="Arial"/>
                <a:cs typeface="Arial"/>
              </a:defRPr>
            </a:lvl7pPr>
            <a:lvl8pPr>
              <a:defRPr sz="4650" b="1">
                <a:solidFill>
                  <a:srgbClr val="9DD6D0"/>
                </a:solidFill>
                <a:latin typeface="Arial"/>
                <a:ea typeface="Arial"/>
                <a:cs typeface="Arial"/>
              </a:defRPr>
            </a:lvl8pPr>
            <a:lvl9pPr>
              <a:defRPr sz="4650" b="1">
                <a:solidFill>
                  <a:srgbClr val="9DD6D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650" b="1">
                <a:solidFill>
                  <a:srgbClr val="9DD6D0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9DD6D0"/>
                </a:solidFill>
                <a:latin typeface="Arial"/>
                <a:ea typeface="Arial"/>
                <a:cs typeface="Arial"/>
              </a:rPr>
              <a:t>Gold preservada</a:t>
            </a:r>
          </a:p>
        </p:txBody>
      </p:sp>
      <p:sp>
        <p:nvSpPr>
          <p:cNvPr id="5" name="close-body">
            <a:extLst xmlns:a="http://schemas.openxmlformats.org/drawingml/2006/main">
              <a:ext uri="{FF2B5EF4-FFF2-40B4-BE49-F238E27FC236}">
                <a16:creationId xmlns:a16="http://schemas.microsoft.com/office/drawing/2014/main" id="{DD40B678-D6A6-4355-9587-3D8A5AC81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5767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Acompanhamento de metas e análise de desigualdades.</a:t>
            </a:r>
          </a:p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Modelos futuros com histórico anterior ao alvo e validação temporal.</a:t>
            </a:r>
          </a:p>
        </p:txBody>
      </p:sp>
      <p:sp>
        <p:nvSpPr>
          <p:cNvPr id="6" name="repo">
            <a:extLst xmlns:a="http://schemas.openxmlformats.org/drawingml/2006/main">
              <a:ext uri="{FF2B5EF4-FFF2-40B4-BE49-F238E27FC236}">
                <a16:creationId xmlns:a16="http://schemas.microsoft.com/office/drawing/2014/main" id="{7BEDD644-0F38-40DF-A8D3-1FD278270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626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CEE1E4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CEE1E4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CEE1E4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CEE1E4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CEE1E4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CEE1E4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CEE1E4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CEE1E4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CEE1E4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CEE1E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CEE1E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CEE1E4"/>
                </a:solidFill>
                <a:latin typeface="Arial"/>
                <a:ea typeface="Arial"/>
                <a:cs typeface="Arial"/>
              </a:rPr>
              <a:t>github.com/fulvius10/POSTECH_AI_SCIENTIST-main</a:t>
            </a:r>
          </a:p>
        </p:txBody>
      </p:sp>
    </p:spTree>
    <p:extLst>
      <p:ext uri="{BB962C8B-B14F-4D97-AF65-F5344CB8AC3E}">
        <p14:creationId xmlns:p14="http://schemas.microsoft.com/office/powerpoint/2010/main" val="16954181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2026-10-26T20:19:36.1340000Z</dcterms:created>
  <dcterms:modified xsi:type="dcterms:W3CDTF">2026-10-26T20:19:36.1340000Z</dcterms:modified>
</coreProperties>
</file>